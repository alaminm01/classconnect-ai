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</p:sldIdLst>
  <p:sldSz cx="14630400" cy="82296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0B49752-0502-4788-AD03-6612DA6A916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D76654-3BD7-4714-83A5-88D1CBFE21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-360" y="76392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38"/>
          </p:nvPr>
        </p:nvSpPr>
        <p:spPr>
          <a:xfrm>
            <a:off x="4399200" y="9555480"/>
            <a:ext cx="3372480" cy="50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84A9AC-70FE-4345-B5A7-4B3881F208C4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555B62-7059-4776-8E71-7F001188FB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CA5777-E6A2-49A4-BE8C-20F3BB9365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6D2B60-6DA7-4BF2-9492-AE1BEC0F4C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C4A65E-8C48-42C8-99AE-202B8E2F86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B39AC6-FBB5-4696-A1CD-3AA54C0D7A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68D484-687B-46F8-900C-651B22BF68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AB5BCF-1B39-412C-A113-2537672361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434A4C-CF36-4382-BB97-A305990232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F39687-D410-4ADA-A022-48AED54166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F22FE8-174F-4E29-9FEA-E676843166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473713-1ED1-4D2E-B30C-49886FE603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DCFED6-6678-402F-BFC2-477C123776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C863B5-6CAA-482A-8CA1-3D40041200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3EDE9E-BA9F-49E4-A688-7829939EC9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9C2A7C-E574-40FD-9578-6B1E3CCF03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13CB8A-AA05-44F6-B5D5-D3E03FDABB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55"/>
          </p:nvPr>
        </p:nvSpPr>
        <p:spPr>
          <a:xfrm>
            <a:off x="4399200" y="9555480"/>
            <a:ext cx="3372480" cy="50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04BF3E-E65D-42EF-ABD6-0D6BE2951EE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56"/>
          </p:nvPr>
        </p:nvSpPr>
        <p:spPr>
          <a:xfrm>
            <a:off x="4399200" y="9555480"/>
            <a:ext cx="3372480" cy="50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C351E7-24A2-496A-8A1C-0F6F4F8BC78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57"/>
          </p:nvPr>
        </p:nvSpPr>
        <p:spPr>
          <a:xfrm>
            <a:off x="4399200" y="9555480"/>
            <a:ext cx="3372480" cy="50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75A4DE-9096-469D-B18E-9B85F90FFAE4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A6F7A4-25EB-4B4B-BECD-F8764DB4E9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C06A8A-22AC-450C-8A19-E3CE26BE1A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0C94842-74C7-40B3-9A97-A76E2CD1AD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44B87A0-A799-4F15-BDAF-D1D0B4D8A6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9B3040D-ED40-4BC4-913A-29CE352FC8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7AE1E15-68C3-43F4-9A67-EE5E79E100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5CA6432-E6FE-478E-A743-658B7A6947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219E81A-A604-4B42-9339-9205BE267B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4211888-CE36-48BD-899F-CB03E4FD66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98DF405-C021-42DA-BB9D-1B8FB79F3E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E4DF5F8-6568-4E5F-BD4D-310A7443F8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4BA6BE-3C11-410C-9C03-A8D87CFFC8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00279A-CCC3-4DC0-AB9D-E7A107297A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BD7EC7-ACC6-4BEE-90FA-D6FAD38B4C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591F64-31E0-4E2E-B4E7-F520899869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515133-5950-42E3-9271-E771FD6B57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CDC16C-24CE-45A9-B89B-104DAC538D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E7B962-D90F-4D76-A73D-0045DCF2D8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DA48CD-116B-4D1A-BF60-65D08961E38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0BD1F2-393D-49EB-9EC4-99B52B7C8F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1FF489-CCC0-4F81-A797-23D59B4617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C24776-192E-465E-8486-AB3C7370EB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7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52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79" name="Image 1" descr="preencoded.png"/>
          <p:cNvPicPr/>
          <p:nvPr/>
        </p:nvPicPr>
        <p:blipFill>
          <a:blip r:embed="rId2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80" name="Text 1"/>
          <p:cNvSpPr/>
          <p:nvPr/>
        </p:nvSpPr>
        <p:spPr>
          <a:xfrm>
            <a:off x="864000" y="1462680"/>
            <a:ext cx="7415280" cy="33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8804"/>
              </a:lnSpc>
              <a:tabLst>
                <a:tab algn="l" pos="0"/>
              </a:tabLst>
            </a:pPr>
            <a:r>
              <a:rPr b="1" lang="en-US" sz="7040" spc="-143" strike="noStrike">
                <a:solidFill>
                  <a:srgbClr val="ff8aaf"/>
                </a:solidFill>
                <a:latin typeface="Petrona"/>
                <a:ea typeface="Petrona"/>
              </a:rPr>
              <a:t>ClassConnect: Revolutionizing Virtual Learning</a:t>
            </a:r>
            <a:endParaRPr b="0" lang="en-US" sz="7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864000" y="5186880"/>
            <a:ext cx="7415280" cy="15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41" strike="noStrike">
                <a:solidFill>
                  <a:srgbClr val="e0d6de"/>
                </a:solidFill>
                <a:latin typeface="Inter"/>
                <a:ea typeface="Inter"/>
              </a:rPr>
              <a:t>ClassConnect is an innovative AI-driven virtual classroom solution. It aims to enhance student engagement and provide personalized learning experiences. Developed by Group  2nd year Computer Engineering students at AIKTC New Panvel.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84" name="Text 2"/>
          <p:cNvSpPr/>
          <p:nvPr/>
        </p:nvSpPr>
        <p:spPr>
          <a:xfrm>
            <a:off x="968760" y="1228320"/>
            <a:ext cx="580860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717"/>
              </a:lnSpc>
              <a:tabLst>
                <a:tab algn="l" pos="0"/>
              </a:tabLst>
            </a:pPr>
            <a:r>
              <a:rPr b="0" lang="en-US" sz="4580" spc="-1" strike="noStrike">
                <a:solidFill>
                  <a:srgbClr val="ffffff"/>
                </a:solidFill>
                <a:latin typeface="Kanit"/>
                <a:ea typeface="Kanit"/>
              </a:rPr>
              <a:t>Meet the Team</a:t>
            </a:r>
            <a:endParaRPr b="0" lang="en-US" sz="45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968760" y="2448360"/>
            <a:ext cx="2895120" cy="1789200"/>
          </a:xfrm>
          <a:prstGeom prst="rect">
            <a:avLst/>
          </a:prstGeom>
          <a:ln w="0">
            <a:noFill/>
          </a:ln>
        </p:spPr>
      </p:pic>
      <p:sp>
        <p:nvSpPr>
          <p:cNvPr id="86" name="Text 3"/>
          <p:cNvSpPr/>
          <p:nvPr/>
        </p:nvSpPr>
        <p:spPr>
          <a:xfrm>
            <a:off x="968760" y="4546440"/>
            <a:ext cx="289512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d9e1ff"/>
                </a:solidFill>
                <a:latin typeface="Kanit"/>
                <a:ea typeface="Kanit"/>
              </a:rPr>
              <a:t>Alamin Mondal (23CO50)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968760" y="5420880"/>
            <a:ext cx="2895120" cy="11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Front-end development lead. Expert in creating intuitive user interfaces.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1" descr="preencoded.png"/>
          <p:cNvPicPr/>
          <p:nvPr/>
        </p:nvPicPr>
        <p:blipFill>
          <a:blip r:embed="rId2"/>
          <a:stretch/>
        </p:blipFill>
        <p:spPr>
          <a:xfrm>
            <a:off x="4234320" y="2448360"/>
            <a:ext cx="2895120" cy="1789200"/>
          </a:xfrm>
          <a:prstGeom prst="rect">
            <a:avLst/>
          </a:prstGeom>
          <a:ln w="0">
            <a:noFill/>
          </a:ln>
        </p:spPr>
      </p:pic>
      <p:sp>
        <p:nvSpPr>
          <p:cNvPr id="89" name="Text 5"/>
          <p:cNvSpPr/>
          <p:nvPr/>
        </p:nvSpPr>
        <p:spPr>
          <a:xfrm>
            <a:off x="4234320" y="4546440"/>
            <a:ext cx="289512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d9e1ff"/>
                </a:solidFill>
                <a:latin typeface="Kanit"/>
                <a:ea typeface="Kanit"/>
              </a:rPr>
              <a:t>Khan Abdul Haddi (23CO34)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4234320" y="5420880"/>
            <a:ext cx="2895120" cy="15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Back-end architecture specialist. Ensures robust server-side functionality.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2" descr="preencoded.png"/>
          <p:cNvPicPr/>
          <p:nvPr/>
        </p:nvPicPr>
        <p:blipFill>
          <a:blip r:embed="rId3"/>
          <a:stretch/>
        </p:blipFill>
        <p:spPr>
          <a:xfrm>
            <a:off x="7500240" y="2448360"/>
            <a:ext cx="2895120" cy="1789200"/>
          </a:xfrm>
          <a:prstGeom prst="rect">
            <a:avLst/>
          </a:prstGeom>
          <a:ln w="0">
            <a:noFill/>
          </a:ln>
        </p:spPr>
      </p:pic>
      <p:sp>
        <p:nvSpPr>
          <p:cNvPr id="92" name="Text 7"/>
          <p:cNvSpPr/>
          <p:nvPr/>
        </p:nvSpPr>
        <p:spPr>
          <a:xfrm>
            <a:off x="7500240" y="4546440"/>
            <a:ext cx="289512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d9e1ff"/>
                </a:solidFill>
                <a:latin typeface="Kanit"/>
                <a:ea typeface="Kanit"/>
              </a:rPr>
              <a:t>Shaikh Nashra Mohd Wahid (23CO14)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7500240" y="5420880"/>
            <a:ext cx="2895120" cy="15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AI integration expert. Implements cutting-edge machine learning models.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 3" descr="preencoded.png"/>
          <p:cNvPicPr/>
          <p:nvPr/>
        </p:nvPicPr>
        <p:blipFill>
          <a:blip r:embed="rId4"/>
          <a:stretch/>
        </p:blipFill>
        <p:spPr>
          <a:xfrm>
            <a:off x="10766160" y="2448360"/>
            <a:ext cx="2895120" cy="1789200"/>
          </a:xfrm>
          <a:prstGeom prst="rect">
            <a:avLst/>
          </a:prstGeom>
          <a:ln w="0">
            <a:noFill/>
          </a:ln>
        </p:spPr>
      </p:pic>
      <p:sp>
        <p:nvSpPr>
          <p:cNvPr id="95" name="Text 9"/>
          <p:cNvSpPr/>
          <p:nvPr/>
        </p:nvSpPr>
        <p:spPr>
          <a:xfrm>
            <a:off x="10766160" y="4546440"/>
            <a:ext cx="289512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d9e1ff"/>
                </a:solidFill>
                <a:latin typeface="Kanit"/>
                <a:ea typeface="Kanit"/>
              </a:rPr>
              <a:t>Kazi Jishan Nasir (23CO32)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10766160" y="5420880"/>
            <a:ext cx="2895120" cy="15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Quality assurance lead. Ensures seamless user experience and system reliability.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9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52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99" name="Text 1"/>
          <p:cNvSpPr/>
          <p:nvPr/>
        </p:nvSpPr>
        <p:spPr>
          <a:xfrm>
            <a:off x="864000" y="2371680"/>
            <a:ext cx="84027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6378"/>
              </a:lnSpc>
              <a:tabLst>
                <a:tab algn="l" pos="0"/>
              </a:tabLst>
            </a:pPr>
            <a:r>
              <a:rPr b="1" lang="en-US" sz="5110" spc="-103" strike="noStrike">
                <a:solidFill>
                  <a:srgbClr val="ff8aaf"/>
                </a:solidFill>
                <a:latin typeface="Petrona"/>
                <a:ea typeface="Petrona"/>
              </a:rPr>
              <a:t>Introduction to ClassConnect</a:t>
            </a:r>
            <a:endParaRPr b="0" lang="en-US" sz="5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864000" y="3798720"/>
            <a:ext cx="323964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89"/>
              </a:lnSpc>
              <a:tabLst>
                <a:tab algn="l" pos="0"/>
              </a:tabLst>
            </a:pPr>
            <a:r>
              <a:rPr b="1" lang="en-US" sz="2550" spc="-52" strike="noStrike">
                <a:solidFill>
                  <a:srgbClr val="ff8aaf"/>
                </a:solidFill>
                <a:latin typeface="Petrona"/>
                <a:ea typeface="Petrona"/>
              </a:rPr>
              <a:t>Current Challenges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864000" y="4450680"/>
            <a:ext cx="614916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41" strike="noStrike">
                <a:solidFill>
                  <a:srgbClr val="e0d6de"/>
                </a:solidFill>
                <a:latin typeface="Inter"/>
                <a:ea typeface="Inter"/>
              </a:rPr>
              <a:t>Students and educators face engagement issues in virtual environments. Existing platforms lack interactivity and personalization.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7624080" y="3798720"/>
            <a:ext cx="323964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89"/>
              </a:lnSpc>
              <a:tabLst>
                <a:tab algn="l" pos="0"/>
              </a:tabLst>
            </a:pPr>
            <a:r>
              <a:rPr b="1" lang="en-US" sz="2550" spc="-52" strike="noStrike">
                <a:solidFill>
                  <a:srgbClr val="ff8aaf"/>
                </a:solidFill>
                <a:latin typeface="Petrona"/>
                <a:ea typeface="Petrona"/>
              </a:rPr>
              <a:t>Our Solution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7624080" y="4450680"/>
            <a:ext cx="614916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41" strike="noStrike">
                <a:solidFill>
                  <a:srgbClr val="e0d6de"/>
                </a:solidFill>
                <a:latin typeface="Inter"/>
                <a:ea typeface="Inter"/>
              </a:rPr>
              <a:t>ClassConnect enhances engagement through AI-powered personalization. It creates an interactive, tailored learning experience for each student.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0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52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06" name="Image 1" descr="preencoded.png"/>
          <p:cNvPicPr/>
          <p:nvPr/>
        </p:nvPicPr>
        <p:blipFill>
          <a:blip r:embed="rId2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07" name="Text 1"/>
          <p:cNvSpPr/>
          <p:nvPr/>
        </p:nvSpPr>
        <p:spPr>
          <a:xfrm>
            <a:off x="702720" y="1033560"/>
            <a:ext cx="5269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187"/>
              </a:lnSpc>
              <a:tabLst>
                <a:tab algn="l" pos="0"/>
              </a:tabLst>
            </a:pPr>
            <a:r>
              <a:rPr b="1" lang="en-US" sz="4150" spc="-83" strike="noStrike">
                <a:solidFill>
                  <a:srgbClr val="ff8aaf"/>
                </a:solidFill>
                <a:latin typeface="Petrona"/>
                <a:ea typeface="Petrona"/>
              </a:rPr>
              <a:t>Market Analysis</a:t>
            </a:r>
            <a:endParaRPr b="0" lang="en-US" sz="4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992520" y="1993320"/>
            <a:ext cx="22320" cy="5202000"/>
          </a:xfrm>
          <a:prstGeom prst="roundRect">
            <a:avLst>
              <a:gd name="adj" fmla="val 368892"/>
            </a:avLst>
          </a:prstGeom>
          <a:solidFill>
            <a:srgbClr val="4836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1206720" y="2433600"/>
            <a:ext cx="702000" cy="22320"/>
          </a:xfrm>
          <a:prstGeom prst="roundRect">
            <a:avLst>
              <a:gd name="adj" fmla="val 368892"/>
            </a:avLst>
          </a:prstGeom>
          <a:solidFill>
            <a:srgbClr val="4836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777960" y="2219040"/>
            <a:ext cx="451080" cy="451080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939240" y="2287080"/>
            <a:ext cx="12852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489"/>
              </a:lnSpc>
              <a:tabLst>
                <a:tab algn="l" pos="0"/>
              </a:tabLst>
            </a:pPr>
            <a:r>
              <a:rPr b="1" lang="en-US" sz="2490" spc="-52" strike="noStrike">
                <a:solidFill>
                  <a:srgbClr val="e0d6de"/>
                </a:solidFill>
                <a:latin typeface="Petrona"/>
                <a:ea typeface="Petrona"/>
              </a:rPr>
              <a:t>1</a:t>
            </a:r>
            <a:endParaRPr b="0" lang="en-US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2108160" y="2194200"/>
            <a:ext cx="2634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594"/>
              </a:lnSpc>
              <a:tabLst>
                <a:tab algn="l" pos="0"/>
              </a:tabLst>
            </a:pPr>
            <a:r>
              <a:rPr b="1" lang="en-US" sz="2070" spc="-43" strike="noStrike">
                <a:solidFill>
                  <a:srgbClr val="e0d6de"/>
                </a:solidFill>
                <a:latin typeface="Petrona"/>
                <a:ea typeface="Petrona"/>
              </a:rPr>
              <a:t>Current Platforms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2108160" y="2643840"/>
            <a:ext cx="6332400" cy="96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531"/>
              </a:lnSpc>
              <a:tabLst>
                <a:tab algn="l" pos="0"/>
              </a:tabLst>
            </a:pPr>
            <a:r>
              <a:rPr b="0" lang="en-US" sz="1580" spc="-32" strike="noStrike">
                <a:solidFill>
                  <a:srgbClr val="e0d6de"/>
                </a:solidFill>
                <a:latin typeface="Inter"/>
                <a:ea typeface="Inter"/>
              </a:rPr>
              <a:t>Google Classroom, Microsoft Teams, and Zoom dominate. They offer basic virtual classroom functionality but lack advanced engagement features.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8"/>
          <p:cNvSpPr/>
          <p:nvPr/>
        </p:nvSpPr>
        <p:spPr>
          <a:xfrm>
            <a:off x="1206720" y="4448880"/>
            <a:ext cx="702000" cy="22320"/>
          </a:xfrm>
          <a:prstGeom prst="roundRect">
            <a:avLst>
              <a:gd name="adj" fmla="val 368892"/>
            </a:avLst>
          </a:prstGeom>
          <a:solidFill>
            <a:srgbClr val="4836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15" name="Shape 9"/>
          <p:cNvSpPr/>
          <p:nvPr/>
        </p:nvSpPr>
        <p:spPr>
          <a:xfrm>
            <a:off x="777960" y="4234320"/>
            <a:ext cx="451080" cy="451080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917280" y="4302360"/>
            <a:ext cx="1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489"/>
              </a:lnSpc>
              <a:tabLst>
                <a:tab algn="l" pos="0"/>
              </a:tabLst>
            </a:pPr>
            <a:r>
              <a:rPr b="1" lang="en-US" sz="2490" spc="-52" strike="noStrike">
                <a:solidFill>
                  <a:srgbClr val="e0d6de"/>
                </a:solidFill>
                <a:latin typeface="Petrona"/>
                <a:ea typeface="Petrona"/>
              </a:rPr>
              <a:t>2</a:t>
            </a:r>
            <a:endParaRPr b="0" lang="en-US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2108160" y="4209480"/>
            <a:ext cx="2634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594"/>
              </a:lnSpc>
              <a:tabLst>
                <a:tab algn="l" pos="0"/>
              </a:tabLst>
            </a:pPr>
            <a:r>
              <a:rPr b="1" lang="en-US" sz="2070" spc="-43" strike="noStrike">
                <a:solidFill>
                  <a:srgbClr val="e0d6de"/>
                </a:solidFill>
                <a:latin typeface="Petrona"/>
                <a:ea typeface="Petrona"/>
              </a:rPr>
              <a:t>User Feedback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2108160" y="4659120"/>
            <a:ext cx="63324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531"/>
              </a:lnSpc>
              <a:tabLst>
                <a:tab algn="l" pos="0"/>
              </a:tabLst>
            </a:pPr>
            <a:r>
              <a:rPr b="0" lang="en-US" sz="1580" spc="-32" strike="noStrike">
                <a:solidFill>
                  <a:srgbClr val="e0d6de"/>
                </a:solidFill>
                <a:latin typeface="Inter"/>
                <a:ea typeface="Inter"/>
              </a:rPr>
              <a:t>Users report low engagement and lack of personalization. There's a growing demand for more interactive, AI-driven solutions.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3"/>
          <p:cNvSpPr/>
          <p:nvPr/>
        </p:nvSpPr>
        <p:spPr>
          <a:xfrm>
            <a:off x="1206720" y="6143040"/>
            <a:ext cx="702000" cy="22320"/>
          </a:xfrm>
          <a:prstGeom prst="roundRect">
            <a:avLst>
              <a:gd name="adj" fmla="val 368892"/>
            </a:avLst>
          </a:prstGeom>
          <a:solidFill>
            <a:srgbClr val="4836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20" name="Shape 14"/>
          <p:cNvSpPr/>
          <p:nvPr/>
        </p:nvSpPr>
        <p:spPr>
          <a:xfrm>
            <a:off x="777960" y="5928480"/>
            <a:ext cx="451080" cy="451080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917280" y="5996520"/>
            <a:ext cx="17208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489"/>
              </a:lnSpc>
              <a:tabLst>
                <a:tab algn="l" pos="0"/>
              </a:tabLst>
            </a:pPr>
            <a:r>
              <a:rPr b="1" lang="en-US" sz="2490" spc="-52" strike="noStrike">
                <a:solidFill>
                  <a:srgbClr val="e0d6de"/>
                </a:solidFill>
                <a:latin typeface="Petrona"/>
                <a:ea typeface="Petrona"/>
              </a:rPr>
              <a:t>3</a:t>
            </a:r>
            <a:endParaRPr b="0" lang="en-US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2108160" y="5903640"/>
            <a:ext cx="2634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594"/>
              </a:lnSpc>
              <a:tabLst>
                <a:tab algn="l" pos="0"/>
              </a:tabLst>
            </a:pPr>
            <a:r>
              <a:rPr b="1" lang="en-US" sz="2070" spc="-43" strike="noStrike">
                <a:solidFill>
                  <a:srgbClr val="e0d6de"/>
                </a:solidFill>
                <a:latin typeface="Petrona"/>
                <a:ea typeface="Petrona"/>
              </a:rPr>
              <a:t>Market Gap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2108160" y="6353280"/>
            <a:ext cx="63324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531"/>
              </a:lnSpc>
              <a:tabLst>
                <a:tab algn="l" pos="0"/>
              </a:tabLst>
            </a:pPr>
            <a:r>
              <a:rPr b="0" lang="en-US" sz="1580" spc="-32" strike="noStrike">
                <a:solidFill>
                  <a:srgbClr val="e0d6de"/>
                </a:solidFill>
                <a:latin typeface="Inter"/>
                <a:ea typeface="Inter"/>
              </a:rPr>
              <a:t>An opportunity exists for a platform that integrates communication, learning management, and AI-powered engagement tools.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2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52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26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27" name="Text 1"/>
          <p:cNvSpPr/>
          <p:nvPr/>
        </p:nvSpPr>
        <p:spPr>
          <a:xfrm>
            <a:off x="6273720" y="818280"/>
            <a:ext cx="598572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814"/>
              </a:lnSpc>
              <a:tabLst>
                <a:tab algn="l" pos="0"/>
              </a:tabLst>
            </a:pPr>
            <a:r>
              <a:rPr b="1" lang="en-US" sz="4650" spc="-94" strike="noStrike">
                <a:solidFill>
                  <a:srgbClr val="ff8aaf"/>
                </a:solidFill>
                <a:latin typeface="Petrona"/>
                <a:ea typeface="Petrona"/>
              </a:rPr>
              <a:t>Proposed Methodology</a:t>
            </a:r>
            <a:endParaRPr b="0" lang="en-US" sz="4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6273720" y="1893960"/>
            <a:ext cx="7568280" cy="1688400"/>
          </a:xfrm>
          <a:prstGeom prst="roundRect">
            <a:avLst>
              <a:gd name="adj" fmla="val 5595"/>
            </a:avLst>
          </a:prstGeom>
          <a:solidFill>
            <a:srgbClr val="2f1d63"/>
          </a:solidFill>
          <a:ln w="762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6506280" y="2126520"/>
            <a:ext cx="2952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908"/>
              </a:lnSpc>
              <a:tabLst>
                <a:tab algn="l" pos="0"/>
              </a:tabLst>
            </a:pPr>
            <a:r>
              <a:rPr b="1" lang="en-US" sz="2320" spc="-49" strike="noStrike">
                <a:solidFill>
                  <a:srgbClr val="e0d6de"/>
                </a:solidFill>
                <a:latin typeface="Petrona"/>
                <a:ea typeface="Petrona"/>
              </a:rPr>
              <a:t>Objective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6506280" y="2630520"/>
            <a:ext cx="710316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35"/>
              </a:lnSpc>
              <a:tabLst>
                <a:tab algn="l" pos="0"/>
              </a:tabLst>
            </a:pPr>
            <a:r>
              <a:rPr b="0" lang="en-US" sz="1770" spc="-35" strike="noStrike">
                <a:solidFill>
                  <a:srgbClr val="e0d6de"/>
                </a:solidFill>
                <a:latin typeface="Inter"/>
                <a:ea typeface="Inter"/>
              </a:rPr>
              <a:t>Develop a comprehensive solution integrating communication, learning management, and advanced AI features.</a:t>
            </a:r>
            <a:endParaRPr b="0" lang="en-US" sz="1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6273720" y="3808080"/>
            <a:ext cx="7568280" cy="1688400"/>
          </a:xfrm>
          <a:prstGeom prst="roundRect">
            <a:avLst>
              <a:gd name="adj" fmla="val 5595"/>
            </a:avLst>
          </a:prstGeom>
          <a:solidFill>
            <a:srgbClr val="2f1d63"/>
          </a:solidFill>
          <a:ln w="762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6506280" y="4040640"/>
            <a:ext cx="2952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908"/>
              </a:lnSpc>
              <a:tabLst>
                <a:tab algn="l" pos="0"/>
              </a:tabLst>
            </a:pPr>
            <a:r>
              <a:rPr b="1" lang="en-US" sz="2320" spc="-49" strike="noStrike">
                <a:solidFill>
                  <a:srgbClr val="e0d6de"/>
                </a:solidFill>
                <a:latin typeface="Petrona"/>
                <a:ea typeface="Petrona"/>
              </a:rPr>
              <a:t>Front-End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6506280" y="4544640"/>
            <a:ext cx="710316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35"/>
              </a:lnSpc>
              <a:tabLst>
                <a:tab algn="l" pos="0"/>
              </a:tabLst>
            </a:pPr>
            <a:r>
              <a:rPr b="0" lang="en-US" sz="1770" spc="-35" strike="noStrike">
                <a:solidFill>
                  <a:srgbClr val="e0d6de"/>
                </a:solidFill>
                <a:latin typeface="Inter"/>
                <a:ea typeface="Inter"/>
              </a:rPr>
              <a:t>Utilize HTML, CSS, and JavaScript to create a responsive, intuitive interface.</a:t>
            </a:r>
            <a:endParaRPr b="0" lang="en-US" sz="1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6273720" y="5722200"/>
            <a:ext cx="7568280" cy="1688400"/>
          </a:xfrm>
          <a:prstGeom prst="roundRect">
            <a:avLst>
              <a:gd name="adj" fmla="val 5595"/>
            </a:avLst>
          </a:prstGeom>
          <a:solidFill>
            <a:srgbClr val="2f1d63"/>
          </a:solidFill>
          <a:ln w="762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6506280" y="5954760"/>
            <a:ext cx="2952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908"/>
              </a:lnSpc>
              <a:tabLst>
                <a:tab algn="l" pos="0"/>
              </a:tabLst>
            </a:pPr>
            <a:r>
              <a:rPr b="1" lang="en-US" sz="2320" spc="-49" strike="noStrike">
                <a:solidFill>
                  <a:srgbClr val="e0d6de"/>
                </a:solidFill>
                <a:latin typeface="Petrona"/>
                <a:ea typeface="Petrona"/>
              </a:rPr>
              <a:t>Back-End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6506280" y="6458760"/>
            <a:ext cx="710316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35"/>
              </a:lnSpc>
              <a:tabLst>
                <a:tab algn="l" pos="0"/>
              </a:tabLst>
            </a:pPr>
            <a:r>
              <a:rPr b="0" lang="en-US" sz="1770" spc="-35" strike="noStrike">
                <a:solidFill>
                  <a:srgbClr val="e0d6de"/>
                </a:solidFill>
                <a:latin typeface="Inter"/>
                <a:ea typeface="Inter"/>
              </a:rPr>
              <a:t>Implement robust server-side functionality using Node.js and PHP for scalability.</a:t>
            </a:r>
            <a:endParaRPr b="0" lang="en-US" sz="17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3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52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39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3085560"/>
          </a:xfrm>
          <a:prstGeom prst="rect">
            <a:avLst/>
          </a:prstGeom>
          <a:ln w="0">
            <a:noFill/>
          </a:ln>
        </p:spPr>
      </p:pic>
      <p:sp>
        <p:nvSpPr>
          <p:cNvPr id="140" name="Text 1"/>
          <p:cNvSpPr/>
          <p:nvPr/>
        </p:nvSpPr>
        <p:spPr>
          <a:xfrm>
            <a:off x="864000" y="3862080"/>
            <a:ext cx="685980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6378"/>
              </a:lnSpc>
              <a:tabLst>
                <a:tab algn="l" pos="0"/>
              </a:tabLst>
            </a:pPr>
            <a:r>
              <a:rPr b="1" lang="en-US" sz="5110" spc="-103" strike="noStrike">
                <a:solidFill>
                  <a:srgbClr val="ff8aaf"/>
                </a:solidFill>
                <a:latin typeface="Petrona"/>
                <a:ea typeface="Petrona"/>
              </a:rPr>
              <a:t>Front-End Development</a:t>
            </a:r>
            <a:endParaRPr b="0" lang="en-US" sz="5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864000" y="5320080"/>
            <a:ext cx="554760" cy="554760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1524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1062360" y="5403240"/>
            <a:ext cx="15804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061"/>
              </a:lnSpc>
              <a:tabLst>
                <a:tab algn="l" pos="0"/>
              </a:tabLst>
            </a:pPr>
            <a:r>
              <a:rPr b="1" lang="en-US" sz="3060" spc="-63" strike="noStrike">
                <a:solidFill>
                  <a:srgbClr val="e0d6de"/>
                </a:solidFill>
                <a:latin typeface="Petrona"/>
                <a:ea typeface="Petrona"/>
              </a:rPr>
              <a:t>1</a:t>
            </a:r>
            <a:endParaRPr b="0" lang="en-US" sz="3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1666440" y="5320080"/>
            <a:ext cx="323964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89"/>
              </a:lnSpc>
              <a:tabLst>
                <a:tab algn="l" pos="0"/>
              </a:tabLst>
            </a:pPr>
            <a:r>
              <a:rPr b="1" lang="en-US" sz="2550" spc="-52" strike="noStrike">
                <a:solidFill>
                  <a:srgbClr val="e0d6de"/>
                </a:solidFill>
                <a:latin typeface="Petrona"/>
                <a:ea typeface="Petrona"/>
              </a:rPr>
              <a:t>Design Theme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1666440" y="5873400"/>
            <a:ext cx="333324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41" strike="noStrike">
                <a:solidFill>
                  <a:srgbClr val="e0d6de"/>
                </a:solidFill>
                <a:latin typeface="Inter"/>
                <a:ea typeface="Inter"/>
              </a:rPr>
              <a:t>Light mint color scheme with smooth transitions for a fresh, engaging look.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5247000" y="5320080"/>
            <a:ext cx="554760" cy="554760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1524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5418360" y="5403240"/>
            <a:ext cx="21204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061"/>
              </a:lnSpc>
              <a:tabLst>
                <a:tab algn="l" pos="0"/>
              </a:tabLst>
            </a:pPr>
            <a:r>
              <a:rPr b="1" lang="en-US" sz="3060" spc="-63" strike="noStrike">
                <a:solidFill>
                  <a:srgbClr val="e0d6de"/>
                </a:solidFill>
                <a:latin typeface="Petrona"/>
                <a:ea typeface="Petrona"/>
              </a:rPr>
              <a:t>2</a:t>
            </a:r>
            <a:endParaRPr b="0" lang="en-US" sz="3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6049440" y="5320080"/>
            <a:ext cx="323964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89"/>
              </a:lnSpc>
              <a:tabLst>
                <a:tab algn="l" pos="0"/>
              </a:tabLst>
            </a:pPr>
            <a:r>
              <a:rPr b="1" lang="en-US" sz="2550" spc="-52" strike="noStrike">
                <a:solidFill>
                  <a:srgbClr val="e0d6de"/>
                </a:solidFill>
                <a:latin typeface="Petrona"/>
                <a:ea typeface="Petrona"/>
              </a:rPr>
              <a:t>User Interface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6049440" y="5873400"/>
            <a:ext cx="333324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41" strike="noStrike">
                <a:solidFill>
                  <a:srgbClr val="e0d6de"/>
                </a:solidFill>
                <a:latin typeface="Inter"/>
                <a:ea typeface="Inter"/>
              </a:rPr>
              <a:t>Intuitive navigation and clear layout to enhance user experience across devices.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0"/>
          <p:cNvSpPr/>
          <p:nvPr/>
        </p:nvSpPr>
        <p:spPr>
          <a:xfrm>
            <a:off x="9630000" y="5320080"/>
            <a:ext cx="554760" cy="554760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1524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9801720" y="5403240"/>
            <a:ext cx="21168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061"/>
              </a:lnSpc>
              <a:tabLst>
                <a:tab algn="l" pos="0"/>
              </a:tabLst>
            </a:pPr>
            <a:r>
              <a:rPr b="1" lang="en-US" sz="3060" spc="-63" strike="noStrike">
                <a:solidFill>
                  <a:srgbClr val="e0d6de"/>
                </a:solidFill>
                <a:latin typeface="Petrona"/>
                <a:ea typeface="Petrona"/>
              </a:rPr>
              <a:t>3</a:t>
            </a:r>
            <a:endParaRPr b="0" lang="en-US" sz="3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10432440" y="5320080"/>
            <a:ext cx="323964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89"/>
              </a:lnSpc>
              <a:tabLst>
                <a:tab algn="l" pos="0"/>
              </a:tabLst>
            </a:pPr>
            <a:r>
              <a:rPr b="1" lang="en-US" sz="2550" spc="-52" strike="noStrike">
                <a:solidFill>
                  <a:srgbClr val="e0d6de"/>
                </a:solidFill>
                <a:latin typeface="Petrona"/>
                <a:ea typeface="Petrona"/>
              </a:rPr>
              <a:t>Key Features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10432440" y="5873400"/>
            <a:ext cx="3333240" cy="15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41" strike="noStrike">
                <a:solidFill>
                  <a:srgbClr val="e0d6de"/>
                </a:solidFill>
                <a:latin typeface="Inter"/>
                <a:ea typeface="Inter"/>
              </a:rPr>
              <a:t>Course navigation, progress tracking, and real-time notification system integrated seamlessly.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5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52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55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2831040"/>
          </a:xfrm>
          <a:prstGeom prst="rect">
            <a:avLst/>
          </a:prstGeom>
          <a:ln w="0">
            <a:noFill/>
          </a:ln>
        </p:spPr>
      </p:pic>
      <p:sp>
        <p:nvSpPr>
          <p:cNvPr id="156" name="Text 1"/>
          <p:cNvSpPr/>
          <p:nvPr/>
        </p:nvSpPr>
        <p:spPr>
          <a:xfrm>
            <a:off x="1127880" y="3455640"/>
            <a:ext cx="5974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854"/>
              </a:lnSpc>
              <a:tabLst>
                <a:tab algn="l" pos="0"/>
              </a:tabLst>
            </a:pPr>
            <a:r>
              <a:rPr b="1" lang="en-US" sz="4680" spc="-94" strike="noStrike">
                <a:solidFill>
                  <a:srgbClr val="ff8aaf"/>
                </a:solidFill>
                <a:latin typeface="Petrona"/>
                <a:ea typeface="Petrona"/>
              </a:rPr>
              <a:t>Back-End Architecture</a:t>
            </a:r>
            <a:endParaRPr b="0" lang="en-US" sz="46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Image 2" descr="preencoded.png"/>
          <p:cNvPicPr/>
          <p:nvPr/>
        </p:nvPicPr>
        <p:blipFill>
          <a:blip r:embed="rId3"/>
          <a:stretch/>
        </p:blipFill>
        <p:spPr>
          <a:xfrm>
            <a:off x="1127880" y="4538520"/>
            <a:ext cx="4124160" cy="905400"/>
          </a:xfrm>
          <a:prstGeom prst="rect">
            <a:avLst/>
          </a:prstGeom>
          <a:ln w="0">
            <a:noFill/>
          </a:ln>
        </p:spPr>
      </p:pic>
      <p:sp>
        <p:nvSpPr>
          <p:cNvPr id="158" name="Text 2"/>
          <p:cNvSpPr/>
          <p:nvPr/>
        </p:nvSpPr>
        <p:spPr>
          <a:xfrm>
            <a:off x="1354320" y="5784480"/>
            <a:ext cx="2972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928"/>
              </a:lnSpc>
              <a:tabLst>
                <a:tab algn="l" pos="0"/>
              </a:tabLst>
            </a:pPr>
            <a:r>
              <a:rPr b="1" lang="en-US" sz="2340" spc="-49" strike="noStrike">
                <a:solidFill>
                  <a:srgbClr val="e0d6de"/>
                </a:solidFill>
                <a:latin typeface="Petrona"/>
                <a:ea typeface="Petrona"/>
              </a:rPr>
              <a:t>Server Integration</a:t>
            </a:r>
            <a:endParaRPr b="0" lang="en-US" sz="2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1354320" y="6292080"/>
            <a:ext cx="3671280" cy="10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54"/>
              </a:lnSpc>
              <a:tabLst>
                <a:tab algn="l" pos="0"/>
              </a:tabLst>
            </a:pPr>
            <a:r>
              <a:rPr b="0" lang="en-US" sz="1790" spc="-38" strike="noStrike">
                <a:solidFill>
                  <a:srgbClr val="e0d6de"/>
                </a:solidFill>
                <a:latin typeface="Inter"/>
                <a:ea typeface="Inter"/>
              </a:rPr>
              <a:t>Node.js and PHP combine for a scalable, robust backend infrastructure.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3" descr="preencoded.png"/>
          <p:cNvPicPr/>
          <p:nvPr/>
        </p:nvPicPr>
        <p:blipFill>
          <a:blip r:embed="rId4"/>
          <a:stretch/>
        </p:blipFill>
        <p:spPr>
          <a:xfrm>
            <a:off x="5252760" y="4538520"/>
            <a:ext cx="4124160" cy="905400"/>
          </a:xfrm>
          <a:prstGeom prst="rect">
            <a:avLst/>
          </a:prstGeom>
          <a:ln w="0">
            <a:noFill/>
          </a:ln>
        </p:spPr>
      </p:pic>
      <p:sp>
        <p:nvSpPr>
          <p:cNvPr id="161" name="Text 4"/>
          <p:cNvSpPr/>
          <p:nvPr/>
        </p:nvSpPr>
        <p:spPr>
          <a:xfrm>
            <a:off x="5479200" y="5784480"/>
            <a:ext cx="2972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928"/>
              </a:lnSpc>
              <a:tabLst>
                <a:tab algn="l" pos="0"/>
              </a:tabLst>
            </a:pPr>
            <a:r>
              <a:rPr b="1" lang="en-US" sz="2340" spc="-49" strike="noStrike">
                <a:solidFill>
                  <a:srgbClr val="e0d6de"/>
                </a:solidFill>
                <a:latin typeface="Petrona"/>
                <a:ea typeface="Petrona"/>
              </a:rPr>
              <a:t>Data Management</a:t>
            </a:r>
            <a:endParaRPr b="0" lang="en-US" sz="2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5479200" y="6292080"/>
            <a:ext cx="3671280" cy="10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54"/>
              </a:lnSpc>
              <a:tabLst>
                <a:tab algn="l" pos="0"/>
              </a:tabLst>
            </a:pPr>
            <a:r>
              <a:rPr b="0" lang="en-US" sz="1790" spc="-38" strike="noStrike">
                <a:solidFill>
                  <a:srgbClr val="e0d6de"/>
                </a:solidFill>
                <a:latin typeface="Inter"/>
                <a:ea typeface="Inter"/>
              </a:rPr>
              <a:t>Efficient handling of user data, course content, and real-time interactions.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Image 4" descr="preencoded.png"/>
          <p:cNvPicPr/>
          <p:nvPr/>
        </p:nvPicPr>
        <p:blipFill>
          <a:blip r:embed="rId5"/>
          <a:stretch/>
        </p:blipFill>
        <p:spPr>
          <a:xfrm>
            <a:off x="9377640" y="4538520"/>
            <a:ext cx="4124160" cy="905400"/>
          </a:xfrm>
          <a:prstGeom prst="rect">
            <a:avLst/>
          </a:prstGeom>
          <a:ln w="0">
            <a:noFill/>
          </a:ln>
        </p:spPr>
      </p:pic>
      <p:sp>
        <p:nvSpPr>
          <p:cNvPr id="164" name="Text 6"/>
          <p:cNvSpPr/>
          <p:nvPr/>
        </p:nvSpPr>
        <p:spPr>
          <a:xfrm>
            <a:off x="9604080" y="5784480"/>
            <a:ext cx="2972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928"/>
              </a:lnSpc>
              <a:tabLst>
                <a:tab algn="l" pos="0"/>
              </a:tabLst>
            </a:pPr>
            <a:r>
              <a:rPr b="1" lang="en-US" sz="2340" spc="-49" strike="noStrike">
                <a:solidFill>
                  <a:srgbClr val="e0d6de"/>
                </a:solidFill>
                <a:latin typeface="Petrona"/>
                <a:ea typeface="Petrona"/>
              </a:rPr>
              <a:t>AI Integration</a:t>
            </a:r>
            <a:endParaRPr b="0" lang="en-US" sz="2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9604080" y="6292080"/>
            <a:ext cx="3671280" cy="10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854"/>
              </a:lnSpc>
              <a:tabLst>
                <a:tab algn="l" pos="0"/>
              </a:tabLst>
            </a:pPr>
            <a:r>
              <a:rPr b="0" lang="en-US" sz="1790" spc="-38" strike="noStrike">
                <a:solidFill>
                  <a:srgbClr val="e0d6de"/>
                </a:solidFill>
                <a:latin typeface="Inter"/>
                <a:ea typeface="Inter"/>
              </a:rPr>
              <a:t>Implementation of AI models for attention monitoring and personalized feedback.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67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52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68" name="Image 1" descr="preencoded.png"/>
          <p:cNvPicPr/>
          <p:nvPr/>
        </p:nvPicPr>
        <p:blipFill>
          <a:blip r:embed="rId2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69" name="Text 1"/>
          <p:cNvSpPr/>
          <p:nvPr/>
        </p:nvSpPr>
        <p:spPr>
          <a:xfrm>
            <a:off x="668520" y="982440"/>
            <a:ext cx="501300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4935"/>
              </a:lnSpc>
              <a:tabLst>
                <a:tab algn="l" pos="0"/>
              </a:tabLst>
            </a:pPr>
            <a:r>
              <a:rPr b="1" lang="en-US" sz="3950" spc="-80" strike="noStrike">
                <a:solidFill>
                  <a:srgbClr val="ff8aaf"/>
                </a:solidFill>
                <a:latin typeface="Petrona"/>
                <a:ea typeface="Petrona"/>
              </a:rPr>
              <a:t>AI-Driven Features</a:t>
            </a:r>
            <a:endParaRPr b="0" lang="en-US" sz="3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mage 2" descr="preencoded.png"/>
          <p:cNvPicPr/>
          <p:nvPr/>
        </p:nvPicPr>
        <p:blipFill>
          <a:blip r:embed="rId3"/>
          <a:stretch/>
        </p:blipFill>
        <p:spPr>
          <a:xfrm>
            <a:off x="668520" y="1895760"/>
            <a:ext cx="476640" cy="476640"/>
          </a:xfrm>
          <a:prstGeom prst="rect">
            <a:avLst/>
          </a:prstGeom>
          <a:ln w="0">
            <a:noFill/>
          </a:ln>
        </p:spPr>
      </p:pic>
      <p:sp>
        <p:nvSpPr>
          <p:cNvPr id="171" name="Text 2"/>
          <p:cNvSpPr/>
          <p:nvPr/>
        </p:nvSpPr>
        <p:spPr>
          <a:xfrm>
            <a:off x="668520" y="2563920"/>
            <a:ext cx="250632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466"/>
              </a:lnSpc>
              <a:tabLst>
                <a:tab algn="l" pos="0"/>
              </a:tabLst>
            </a:pPr>
            <a:r>
              <a:rPr b="1" lang="en-US" sz="1979" spc="-41" strike="noStrike">
                <a:solidFill>
                  <a:srgbClr val="e0d6de"/>
                </a:solidFill>
                <a:latin typeface="Petrona"/>
                <a:ea typeface="Petrona"/>
              </a:rPr>
              <a:t>Attention Tracking</a:t>
            </a:r>
            <a:endParaRPr b="0" lang="en-US" sz="19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668520" y="2991960"/>
            <a:ext cx="78066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407"/>
              </a:lnSpc>
              <a:tabLst>
                <a:tab algn="l" pos="0"/>
              </a:tabLst>
            </a:pPr>
            <a:r>
              <a:rPr b="0" lang="en-US" sz="1510" spc="-32" strike="noStrike">
                <a:solidFill>
                  <a:srgbClr val="e0d6de"/>
                </a:solidFill>
                <a:latin typeface="Inter"/>
                <a:ea typeface="Inter"/>
              </a:rPr>
              <a:t>AI models monitor student focus in real-time, providing instant engagement feedback.</a:t>
            </a:r>
            <a:endParaRPr b="0" lang="en-US" sz="151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 3" descr="preencoded.png"/>
          <p:cNvPicPr/>
          <p:nvPr/>
        </p:nvPicPr>
        <p:blipFill>
          <a:blip r:embed="rId4"/>
          <a:stretch/>
        </p:blipFill>
        <p:spPr>
          <a:xfrm>
            <a:off x="668520" y="3870360"/>
            <a:ext cx="476640" cy="476640"/>
          </a:xfrm>
          <a:prstGeom prst="rect">
            <a:avLst/>
          </a:prstGeom>
          <a:ln w="0">
            <a:noFill/>
          </a:ln>
        </p:spPr>
      </p:pic>
      <p:sp>
        <p:nvSpPr>
          <p:cNvPr id="174" name="Text 4"/>
          <p:cNvSpPr/>
          <p:nvPr/>
        </p:nvSpPr>
        <p:spPr>
          <a:xfrm>
            <a:off x="668520" y="4538880"/>
            <a:ext cx="250632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466"/>
              </a:lnSpc>
              <a:tabLst>
                <a:tab algn="l" pos="0"/>
              </a:tabLst>
            </a:pPr>
            <a:r>
              <a:rPr b="1" lang="en-US" sz="1979" spc="-41" strike="noStrike">
                <a:solidFill>
                  <a:srgbClr val="e0d6de"/>
                </a:solidFill>
                <a:latin typeface="Petrona"/>
                <a:ea typeface="Petrona"/>
              </a:rPr>
              <a:t>Personalized Learning</a:t>
            </a:r>
            <a:endParaRPr b="0" lang="en-US" sz="19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668520" y="4966560"/>
            <a:ext cx="78066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407"/>
              </a:lnSpc>
              <a:tabLst>
                <a:tab algn="l" pos="0"/>
              </a:tabLst>
            </a:pPr>
            <a:r>
              <a:rPr b="0" lang="en-US" sz="1510" spc="-32" strike="noStrike">
                <a:solidFill>
                  <a:srgbClr val="e0d6de"/>
                </a:solidFill>
                <a:latin typeface="Inter"/>
                <a:ea typeface="Inter"/>
              </a:rPr>
              <a:t>AI tailors content and pacing based on individual student data and learning patterns.</a:t>
            </a:r>
            <a:endParaRPr b="0" lang="en-US" sz="151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Image 4" descr="preencoded.png"/>
          <p:cNvPicPr/>
          <p:nvPr/>
        </p:nvPicPr>
        <p:blipFill>
          <a:blip r:embed="rId5"/>
          <a:stretch/>
        </p:blipFill>
        <p:spPr>
          <a:xfrm>
            <a:off x="668520" y="5844960"/>
            <a:ext cx="476640" cy="476640"/>
          </a:xfrm>
          <a:prstGeom prst="rect">
            <a:avLst/>
          </a:prstGeom>
          <a:ln w="0">
            <a:noFill/>
          </a:ln>
        </p:spPr>
      </p:pic>
      <p:sp>
        <p:nvSpPr>
          <p:cNvPr id="177" name="Text 6"/>
          <p:cNvSpPr/>
          <p:nvPr/>
        </p:nvSpPr>
        <p:spPr>
          <a:xfrm>
            <a:off x="668520" y="6513480"/>
            <a:ext cx="250632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466"/>
              </a:lnSpc>
              <a:tabLst>
                <a:tab algn="l" pos="0"/>
              </a:tabLst>
            </a:pPr>
            <a:r>
              <a:rPr b="1" lang="en-US" sz="1979" spc="-41" strike="noStrike">
                <a:solidFill>
                  <a:srgbClr val="e0d6de"/>
                </a:solidFill>
                <a:latin typeface="Petrona"/>
                <a:ea typeface="Petrona"/>
              </a:rPr>
              <a:t>Analytics</a:t>
            </a:r>
            <a:endParaRPr b="0" lang="en-US" sz="19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668520" y="6941520"/>
            <a:ext cx="78066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407"/>
              </a:lnSpc>
              <a:tabLst>
                <a:tab algn="l" pos="0"/>
              </a:tabLst>
            </a:pPr>
            <a:r>
              <a:rPr b="0" lang="en-US" sz="1510" spc="-32" strike="noStrike">
                <a:solidFill>
                  <a:srgbClr val="e0d6de"/>
                </a:solidFill>
                <a:latin typeface="Inter"/>
                <a:ea typeface="Inter"/>
              </a:rPr>
              <a:t>Comprehensive insights on student performance and engagement for educators.</a:t>
            </a:r>
            <a:endParaRPr b="0" lang="en-US" sz="15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8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52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81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2763000"/>
          </a:xfrm>
          <a:prstGeom prst="rect">
            <a:avLst/>
          </a:prstGeom>
          <a:ln w="0">
            <a:noFill/>
          </a:ln>
        </p:spPr>
      </p:pic>
      <p:sp>
        <p:nvSpPr>
          <p:cNvPr id="182" name="Text 1"/>
          <p:cNvSpPr/>
          <p:nvPr/>
        </p:nvSpPr>
        <p:spPr>
          <a:xfrm>
            <a:off x="1276560" y="3375000"/>
            <a:ext cx="5918400" cy="72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712"/>
              </a:lnSpc>
              <a:tabLst>
                <a:tab algn="l" pos="0"/>
              </a:tabLst>
            </a:pPr>
            <a:r>
              <a:rPr b="1" lang="en-US" sz="4570" spc="-92" strike="noStrike">
                <a:solidFill>
                  <a:srgbClr val="ff8aaf"/>
                </a:solidFill>
                <a:latin typeface="Petrona"/>
                <a:ea typeface="Petrona"/>
              </a:rPr>
              <a:t>Competitive Advantage</a:t>
            </a:r>
            <a:endParaRPr b="0" lang="en-US" sz="4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1276560" y="4431960"/>
            <a:ext cx="12076560" cy="3185640"/>
          </a:xfrm>
          <a:prstGeom prst="roundRect">
            <a:avLst>
              <a:gd name="adj" fmla="val 2914"/>
            </a:avLst>
          </a:prstGeom>
          <a:noFill/>
          <a:ln w="7620">
            <a:solidFill>
              <a:srgbClr val="ffffff">
                <a:alpha val="2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1284120" y="4439520"/>
            <a:ext cx="12060000" cy="6336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1506600" y="457956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Feature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5529960" y="4579560"/>
            <a:ext cx="356940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ClassConnect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9549720" y="457956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Competitors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1284120" y="5073840"/>
            <a:ext cx="12060000" cy="63360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1506600" y="521388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AI-Driven Engagement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5529960" y="5213880"/>
            <a:ext cx="356940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Advanced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9549720" y="521388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Basic/None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1284120" y="5707800"/>
            <a:ext cx="12060000" cy="6336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1506600" y="584820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Personalized Learning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5529960" y="5848200"/>
            <a:ext cx="356940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Comprehensive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9549720" y="584820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Limited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5"/>
          <p:cNvSpPr/>
          <p:nvPr/>
        </p:nvSpPr>
        <p:spPr>
          <a:xfrm>
            <a:off x="1284120" y="6342120"/>
            <a:ext cx="12060000" cy="63360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7" name="Text 16"/>
          <p:cNvSpPr/>
          <p:nvPr/>
        </p:nvSpPr>
        <p:spPr>
          <a:xfrm>
            <a:off x="1506600" y="648252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Real-Time Feedback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5529960" y="6482520"/>
            <a:ext cx="356940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Instant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8"/>
          <p:cNvSpPr/>
          <p:nvPr/>
        </p:nvSpPr>
        <p:spPr>
          <a:xfrm>
            <a:off x="9549720" y="648252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Delayed/Manual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9"/>
          <p:cNvSpPr/>
          <p:nvPr/>
        </p:nvSpPr>
        <p:spPr>
          <a:xfrm>
            <a:off x="1284120" y="6976440"/>
            <a:ext cx="12060000" cy="6336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1" name="Text 20"/>
          <p:cNvSpPr/>
          <p:nvPr/>
        </p:nvSpPr>
        <p:spPr>
          <a:xfrm>
            <a:off x="1506600" y="711684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Integration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1"/>
          <p:cNvSpPr/>
          <p:nvPr/>
        </p:nvSpPr>
        <p:spPr>
          <a:xfrm>
            <a:off x="5529960" y="7116840"/>
            <a:ext cx="356940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All-in-One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2"/>
          <p:cNvSpPr/>
          <p:nvPr/>
        </p:nvSpPr>
        <p:spPr>
          <a:xfrm>
            <a:off x="9549720" y="7116840"/>
            <a:ext cx="35733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35" strike="noStrike">
                <a:solidFill>
                  <a:srgbClr val="e0d6de"/>
                </a:solidFill>
                <a:latin typeface="Inter"/>
                <a:ea typeface="Inter"/>
              </a:rPr>
              <a:t>Fragmented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20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52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206" name="Image 1" descr="preencoded.png"/>
          <p:cNvPicPr/>
          <p:nvPr/>
        </p:nvPicPr>
        <p:blipFill>
          <a:blip r:embed="rId2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207" name="Text 1"/>
          <p:cNvSpPr/>
          <p:nvPr/>
        </p:nvSpPr>
        <p:spPr>
          <a:xfrm>
            <a:off x="832320" y="654480"/>
            <a:ext cx="6243120" cy="77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6146"/>
              </a:lnSpc>
              <a:tabLst>
                <a:tab algn="l" pos="0"/>
              </a:tabLst>
            </a:pPr>
            <a:r>
              <a:rPr b="1" lang="en-US" sz="4920" spc="-100" strike="noStrike">
                <a:solidFill>
                  <a:srgbClr val="ff8aaf"/>
                </a:solidFill>
                <a:latin typeface="Petrona"/>
                <a:ea typeface="Petrona"/>
              </a:rPr>
              <a:t>Future Development</a:t>
            </a:r>
            <a:endParaRPr b="0" lang="en-US" sz="4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1173960" y="1791360"/>
            <a:ext cx="29880" cy="5783040"/>
          </a:xfrm>
          <a:prstGeom prst="roundRect">
            <a:avLst>
              <a:gd name="adj" fmla="val 327756"/>
            </a:avLst>
          </a:prstGeom>
          <a:solidFill>
            <a:srgbClr val="4836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1426320" y="2311200"/>
            <a:ext cx="831600" cy="29880"/>
          </a:xfrm>
          <a:prstGeom prst="roundRect">
            <a:avLst>
              <a:gd name="adj" fmla="val 327756"/>
            </a:avLst>
          </a:prstGeom>
          <a:solidFill>
            <a:srgbClr val="4836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921600" y="2059200"/>
            <a:ext cx="534240" cy="534240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762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1112760" y="2139480"/>
            <a:ext cx="1522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951"/>
              </a:lnSpc>
              <a:tabLst>
                <a:tab algn="l" pos="0"/>
              </a:tabLst>
            </a:pPr>
            <a:r>
              <a:rPr b="1" lang="en-US" sz="2950" spc="-60" strike="noStrike">
                <a:solidFill>
                  <a:srgbClr val="e0d6de"/>
                </a:solidFill>
                <a:latin typeface="Petrona"/>
                <a:ea typeface="Petrona"/>
              </a:rPr>
              <a:t>1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2497320" y="2029320"/>
            <a:ext cx="312120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073"/>
              </a:lnSpc>
              <a:tabLst>
                <a:tab algn="l" pos="0"/>
              </a:tabLst>
            </a:pPr>
            <a:r>
              <a:rPr b="1" lang="en-US" sz="2460" spc="-49" strike="noStrike">
                <a:solidFill>
                  <a:srgbClr val="e0d6de"/>
                </a:solidFill>
                <a:latin typeface="Petrona"/>
                <a:ea typeface="Petrona"/>
              </a:rPr>
              <a:t>Short-Term</a:t>
            </a:r>
            <a:endParaRPr b="0" lang="en-US" sz="24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2497320" y="2562120"/>
            <a:ext cx="581328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996"/>
              </a:lnSpc>
              <a:tabLst>
                <a:tab algn="l" pos="0"/>
              </a:tabLst>
            </a:pPr>
            <a:r>
              <a:rPr b="0" lang="en-US" sz="1870" spc="-38" strike="noStrike">
                <a:solidFill>
                  <a:srgbClr val="e0d6de"/>
                </a:solidFill>
                <a:latin typeface="Inter"/>
                <a:ea typeface="Inter"/>
              </a:rPr>
              <a:t>Implement gamification features and advanced analytics for deeper insights.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1426320" y="4318560"/>
            <a:ext cx="831600" cy="29880"/>
          </a:xfrm>
          <a:prstGeom prst="roundRect">
            <a:avLst>
              <a:gd name="adj" fmla="val 327756"/>
            </a:avLst>
          </a:prstGeom>
          <a:solidFill>
            <a:srgbClr val="4836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921600" y="4066200"/>
            <a:ext cx="534240" cy="534240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762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1086840" y="4146480"/>
            <a:ext cx="20412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951"/>
              </a:lnSpc>
              <a:tabLst>
                <a:tab algn="l" pos="0"/>
              </a:tabLst>
            </a:pPr>
            <a:r>
              <a:rPr b="1" lang="en-US" sz="2950" spc="-60" strike="noStrike">
                <a:solidFill>
                  <a:srgbClr val="e0d6de"/>
                </a:solidFill>
                <a:latin typeface="Petrona"/>
                <a:ea typeface="Petrona"/>
              </a:rPr>
              <a:t>2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2497320" y="4036320"/>
            <a:ext cx="312120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073"/>
              </a:lnSpc>
              <a:tabLst>
                <a:tab algn="l" pos="0"/>
              </a:tabLst>
            </a:pPr>
            <a:r>
              <a:rPr b="1" lang="en-US" sz="2460" spc="-49" strike="noStrike">
                <a:solidFill>
                  <a:srgbClr val="e0d6de"/>
                </a:solidFill>
                <a:latin typeface="Petrona"/>
                <a:ea typeface="Petrona"/>
              </a:rPr>
              <a:t>Mid-Term</a:t>
            </a:r>
            <a:endParaRPr b="0" lang="en-US" sz="24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2497320" y="4569120"/>
            <a:ext cx="581328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996"/>
              </a:lnSpc>
              <a:tabLst>
                <a:tab algn="l" pos="0"/>
              </a:tabLst>
            </a:pPr>
            <a:r>
              <a:rPr b="0" lang="en-US" sz="1870" spc="-38" strike="noStrike">
                <a:solidFill>
                  <a:srgbClr val="e0d6de"/>
                </a:solidFill>
                <a:latin typeface="Inter"/>
                <a:ea typeface="Inter"/>
              </a:rPr>
              <a:t>Integrate AR/VR technologies for immersive learning experiences.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1426320" y="6325560"/>
            <a:ext cx="831600" cy="29880"/>
          </a:xfrm>
          <a:prstGeom prst="roundRect">
            <a:avLst>
              <a:gd name="adj" fmla="val 327756"/>
            </a:avLst>
          </a:prstGeom>
          <a:solidFill>
            <a:srgbClr val="4836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921600" y="6073200"/>
            <a:ext cx="534240" cy="534240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7620">
            <a:solidFill>
              <a:srgbClr val="4836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1086840" y="6153480"/>
            <a:ext cx="20376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951"/>
              </a:lnSpc>
              <a:tabLst>
                <a:tab algn="l" pos="0"/>
              </a:tabLst>
            </a:pPr>
            <a:r>
              <a:rPr b="1" lang="en-US" sz="2950" spc="-60" strike="noStrike">
                <a:solidFill>
                  <a:srgbClr val="e0d6de"/>
                </a:solidFill>
                <a:latin typeface="Petrona"/>
                <a:ea typeface="Petrona"/>
              </a:rPr>
              <a:t>3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6"/>
          <p:cNvSpPr/>
          <p:nvPr/>
        </p:nvSpPr>
        <p:spPr>
          <a:xfrm>
            <a:off x="2497320" y="6043680"/>
            <a:ext cx="312120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073"/>
              </a:lnSpc>
              <a:tabLst>
                <a:tab algn="l" pos="0"/>
              </a:tabLst>
            </a:pPr>
            <a:r>
              <a:rPr b="1" lang="en-US" sz="2460" spc="-49" strike="noStrike">
                <a:solidFill>
                  <a:srgbClr val="e0d6de"/>
                </a:solidFill>
                <a:latin typeface="Petrona"/>
                <a:ea typeface="Petrona"/>
              </a:rPr>
              <a:t>Long-Term</a:t>
            </a:r>
            <a:endParaRPr b="0" lang="en-US" sz="24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2497320" y="6576480"/>
            <a:ext cx="581328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996"/>
              </a:lnSpc>
              <a:tabLst>
                <a:tab algn="l" pos="0"/>
              </a:tabLst>
            </a:pPr>
            <a:r>
              <a:rPr b="0" lang="en-US" sz="1870" spc="-38" strike="noStrike">
                <a:solidFill>
                  <a:srgbClr val="e0d6de"/>
                </a:solidFill>
                <a:latin typeface="Inter"/>
                <a:ea typeface="Inter"/>
              </a:rPr>
              <a:t>Position ClassConnect as the global standard for AI-driven virtual learning.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22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227" name="Text 2"/>
          <p:cNvSpPr/>
          <p:nvPr/>
        </p:nvSpPr>
        <p:spPr>
          <a:xfrm>
            <a:off x="6350400" y="797400"/>
            <a:ext cx="723708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717"/>
              </a:lnSpc>
              <a:tabLst>
                <a:tab algn="l" pos="0"/>
              </a:tabLst>
            </a:pPr>
            <a:r>
              <a:rPr b="0" lang="en-US" sz="4580" spc="-1" strike="noStrike">
                <a:solidFill>
                  <a:srgbClr val="ffffff"/>
                </a:solidFill>
                <a:latin typeface="Kanit"/>
                <a:ea typeface="Kanit"/>
              </a:rPr>
              <a:t>Survey of Existing Solutions</a:t>
            </a:r>
            <a:endParaRPr b="0" lang="en-US" sz="4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6350400" y="1893960"/>
            <a:ext cx="7415280" cy="5537520"/>
          </a:xfrm>
          <a:prstGeom prst="roundRect">
            <a:avLst>
              <a:gd name="adj" fmla="val 669"/>
            </a:avLst>
          </a:prstGeom>
          <a:noFill/>
          <a:ln w="15240">
            <a:solidFill>
              <a:srgbClr val="ffffff">
                <a:alpha val="2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9" name="Shape 4"/>
          <p:cNvSpPr/>
          <p:nvPr/>
        </p:nvSpPr>
        <p:spPr>
          <a:xfrm>
            <a:off x="6365520" y="1909080"/>
            <a:ext cx="7383960" cy="7059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6613200" y="2064960"/>
            <a:ext cx="1963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Platform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6"/>
          <p:cNvSpPr/>
          <p:nvPr/>
        </p:nvSpPr>
        <p:spPr>
          <a:xfrm>
            <a:off x="9078480" y="2064960"/>
            <a:ext cx="19591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Strengths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7"/>
          <p:cNvSpPr/>
          <p:nvPr/>
        </p:nvSpPr>
        <p:spPr>
          <a:xfrm>
            <a:off x="11539800" y="2064960"/>
            <a:ext cx="1963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Gaps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8"/>
          <p:cNvSpPr/>
          <p:nvPr/>
        </p:nvSpPr>
        <p:spPr>
          <a:xfrm>
            <a:off x="6365520" y="2615400"/>
            <a:ext cx="7383960" cy="110088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34" name="Text 9"/>
          <p:cNvSpPr/>
          <p:nvPr/>
        </p:nvSpPr>
        <p:spPr>
          <a:xfrm>
            <a:off x="6613200" y="2771280"/>
            <a:ext cx="19630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Google Classroom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9078480" y="2771280"/>
            <a:ext cx="19591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Basic learning management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11539800" y="2771280"/>
            <a:ext cx="19630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Limited AI integration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2"/>
          <p:cNvSpPr/>
          <p:nvPr/>
        </p:nvSpPr>
        <p:spPr>
          <a:xfrm>
            <a:off x="6365520" y="3717000"/>
            <a:ext cx="7383960" cy="14958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6613200" y="3872880"/>
            <a:ext cx="1963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Microsoft Teams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9078480" y="3872880"/>
            <a:ext cx="19591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Robust communication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11539800" y="3872880"/>
            <a:ext cx="196308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Lack of personalized engagement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6"/>
          <p:cNvSpPr/>
          <p:nvPr/>
        </p:nvSpPr>
        <p:spPr>
          <a:xfrm>
            <a:off x="6365520" y="5213880"/>
            <a:ext cx="7383960" cy="110088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2" name="Text 17"/>
          <p:cNvSpPr/>
          <p:nvPr/>
        </p:nvSpPr>
        <p:spPr>
          <a:xfrm>
            <a:off x="6613200" y="5369400"/>
            <a:ext cx="1963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Zoom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18"/>
          <p:cNvSpPr/>
          <p:nvPr/>
        </p:nvSpPr>
        <p:spPr>
          <a:xfrm>
            <a:off x="9078480" y="5369400"/>
            <a:ext cx="19591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Video conferencing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9"/>
          <p:cNvSpPr/>
          <p:nvPr/>
        </p:nvSpPr>
        <p:spPr>
          <a:xfrm>
            <a:off x="11539800" y="5369400"/>
            <a:ext cx="19630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Limited learning management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0"/>
          <p:cNvSpPr/>
          <p:nvPr/>
        </p:nvSpPr>
        <p:spPr>
          <a:xfrm>
            <a:off x="6365520" y="6315480"/>
            <a:ext cx="7383960" cy="110088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6" name="Text 21"/>
          <p:cNvSpPr/>
          <p:nvPr/>
        </p:nvSpPr>
        <p:spPr>
          <a:xfrm>
            <a:off x="6613200" y="6471000"/>
            <a:ext cx="1963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ClassConnect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2"/>
          <p:cNvSpPr/>
          <p:nvPr/>
        </p:nvSpPr>
        <p:spPr>
          <a:xfrm>
            <a:off x="9078480" y="6471000"/>
            <a:ext cx="19591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AI-driven engagement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3"/>
          <p:cNvSpPr/>
          <p:nvPr/>
        </p:nvSpPr>
        <p:spPr>
          <a:xfrm>
            <a:off x="11539800" y="6471000"/>
            <a:ext cx="19630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Comprehensive solution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0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25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252" name="Text 2"/>
          <p:cNvSpPr/>
          <p:nvPr/>
        </p:nvSpPr>
        <p:spPr>
          <a:xfrm>
            <a:off x="6331680" y="664920"/>
            <a:ext cx="7452720" cy="14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5593"/>
              </a:lnSpc>
              <a:tabLst>
                <a:tab algn="l" pos="0"/>
              </a:tabLst>
            </a:pPr>
            <a:r>
              <a:rPr b="0" lang="en-US" sz="4480" spc="-1" strike="noStrike">
                <a:solidFill>
                  <a:srgbClr val="ffffff"/>
                </a:solidFill>
                <a:latin typeface="Kanit"/>
                <a:ea typeface="Kanit"/>
              </a:rPr>
              <a:t>User Feedback and Challenges</a:t>
            </a:r>
            <a:endParaRPr b="0" lang="en-US" sz="4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"/>
          <p:cNvSpPr/>
          <p:nvPr/>
        </p:nvSpPr>
        <p:spPr>
          <a:xfrm>
            <a:off x="6331680" y="2719440"/>
            <a:ext cx="542520" cy="542520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6548760" y="2820600"/>
            <a:ext cx="10800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684"/>
              </a:lnSpc>
              <a:tabLst>
                <a:tab algn="l" pos="0"/>
              </a:tabLst>
            </a:pPr>
            <a:r>
              <a:rPr b="0" lang="en-US" sz="2680" spc="-1" strike="noStrike">
                <a:solidFill>
                  <a:srgbClr val="d9e1ff"/>
                </a:solidFill>
                <a:latin typeface="Kanit"/>
                <a:ea typeface="Kanit"/>
              </a:rPr>
              <a:t>1</a:t>
            </a:r>
            <a:endParaRPr b="0" lang="en-US" sz="2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7116480" y="2719440"/>
            <a:ext cx="335664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230" spc="-1" strike="noStrike">
                <a:solidFill>
                  <a:srgbClr val="d9e1ff"/>
                </a:solidFill>
                <a:latin typeface="Kanit"/>
                <a:ea typeface="Kanit"/>
              </a:rPr>
              <a:t>Limited Engagement Tools</a:t>
            </a:r>
            <a:endParaRPr b="0" lang="en-US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6"/>
          <p:cNvSpPr/>
          <p:nvPr/>
        </p:nvSpPr>
        <p:spPr>
          <a:xfrm>
            <a:off x="7116480" y="3219480"/>
            <a:ext cx="6667920" cy="7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044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d9e1ff"/>
                </a:solidFill>
                <a:latin typeface="Martel Sans"/>
                <a:ea typeface="Martel Sans"/>
              </a:rPr>
              <a:t>Users report difficulty in maintaining student focus during online sessions.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7"/>
          <p:cNvSpPr/>
          <p:nvPr/>
        </p:nvSpPr>
        <p:spPr>
          <a:xfrm>
            <a:off x="6331680" y="4505400"/>
            <a:ext cx="542520" cy="542520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6516360" y="4606920"/>
            <a:ext cx="17280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684"/>
              </a:lnSpc>
              <a:tabLst>
                <a:tab algn="l" pos="0"/>
              </a:tabLst>
            </a:pPr>
            <a:r>
              <a:rPr b="0" lang="en-US" sz="2680" spc="-1" strike="noStrike">
                <a:solidFill>
                  <a:srgbClr val="d9e1ff"/>
                </a:solidFill>
                <a:latin typeface="Kanit"/>
                <a:ea typeface="Kanit"/>
              </a:rPr>
              <a:t>2</a:t>
            </a:r>
            <a:endParaRPr b="0" lang="en-US" sz="2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7116480" y="4505400"/>
            <a:ext cx="439380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230" spc="-1" strike="noStrike">
                <a:solidFill>
                  <a:srgbClr val="d9e1ff"/>
                </a:solidFill>
                <a:latin typeface="Kanit"/>
                <a:ea typeface="Kanit"/>
              </a:rPr>
              <a:t>Insufficient Personalized Feedback</a:t>
            </a:r>
            <a:endParaRPr b="0" lang="en-US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0"/>
          <p:cNvSpPr/>
          <p:nvPr/>
        </p:nvSpPr>
        <p:spPr>
          <a:xfrm>
            <a:off x="7116480" y="5005440"/>
            <a:ext cx="6667920" cy="7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044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d9e1ff"/>
                </a:solidFill>
                <a:latin typeface="Martel Sans"/>
                <a:ea typeface="Martel Sans"/>
              </a:rPr>
              <a:t>Current platforms lack mechanisms for providing timely, individualized feedback to students.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1"/>
          <p:cNvSpPr/>
          <p:nvPr/>
        </p:nvSpPr>
        <p:spPr>
          <a:xfrm>
            <a:off x="6331680" y="6291720"/>
            <a:ext cx="542520" cy="542520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62" name="Text 12"/>
          <p:cNvSpPr/>
          <p:nvPr/>
        </p:nvSpPr>
        <p:spPr>
          <a:xfrm>
            <a:off x="6514920" y="6392880"/>
            <a:ext cx="17604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684"/>
              </a:lnSpc>
              <a:tabLst>
                <a:tab algn="l" pos="0"/>
              </a:tabLst>
            </a:pPr>
            <a:r>
              <a:rPr b="0" lang="en-US" sz="2680" spc="-1" strike="noStrike">
                <a:solidFill>
                  <a:srgbClr val="d9e1ff"/>
                </a:solidFill>
                <a:latin typeface="Kanit"/>
                <a:ea typeface="Kanit"/>
              </a:rPr>
              <a:t>3</a:t>
            </a:r>
            <a:endParaRPr b="0" lang="en-US" sz="2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3"/>
          <p:cNvSpPr/>
          <p:nvPr/>
        </p:nvSpPr>
        <p:spPr>
          <a:xfrm>
            <a:off x="7116480" y="6291720"/>
            <a:ext cx="353736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230" spc="-1" strike="noStrike">
                <a:solidFill>
                  <a:srgbClr val="d9e1ff"/>
                </a:solidFill>
                <a:latin typeface="Kanit"/>
                <a:ea typeface="Kanit"/>
              </a:rPr>
              <a:t>Real-time Progress Tracking</a:t>
            </a:r>
            <a:endParaRPr b="0" lang="en-US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7116480" y="6791400"/>
            <a:ext cx="6667920" cy="7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044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d9e1ff"/>
                </a:solidFill>
                <a:latin typeface="Martel Sans"/>
                <a:ea typeface="Martel Sans"/>
              </a:rPr>
              <a:t>Educators struggle to monitor student progress effectively in virtual environments.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6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26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268" name="Text 2"/>
          <p:cNvSpPr/>
          <p:nvPr/>
        </p:nvSpPr>
        <p:spPr>
          <a:xfrm>
            <a:off x="6339240" y="672120"/>
            <a:ext cx="595656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644"/>
              </a:lnSpc>
              <a:tabLst>
                <a:tab algn="l" pos="0"/>
              </a:tabLst>
            </a:pPr>
            <a:r>
              <a:rPr b="0" lang="en-US" sz="4520" spc="-1" strike="noStrike">
                <a:solidFill>
                  <a:srgbClr val="ffffff"/>
                </a:solidFill>
                <a:latin typeface="Kanit"/>
                <a:ea typeface="Kanit"/>
              </a:rPr>
              <a:t>Proposed Methodology</a:t>
            </a:r>
            <a:endParaRPr b="0" lang="en-US" sz="4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"/>
          <p:cNvSpPr/>
          <p:nvPr/>
        </p:nvSpPr>
        <p:spPr>
          <a:xfrm>
            <a:off x="6689520" y="1754280"/>
            <a:ext cx="29880" cy="5802480"/>
          </a:xfrm>
          <a:prstGeom prst="roundRect">
            <a:avLst>
              <a:gd name="adj" fmla="val 119945"/>
            </a:avLst>
          </a:prstGeom>
          <a:solidFill>
            <a:srgbClr val="4844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70" name="Shape 4"/>
          <p:cNvSpPr/>
          <p:nvPr/>
        </p:nvSpPr>
        <p:spPr>
          <a:xfrm>
            <a:off x="6948720" y="2287440"/>
            <a:ext cx="852120" cy="29880"/>
          </a:xfrm>
          <a:prstGeom prst="roundRect">
            <a:avLst>
              <a:gd name="adj" fmla="val 119945"/>
            </a:avLst>
          </a:prstGeom>
          <a:solidFill>
            <a:srgbClr val="4844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71" name="Shape 5"/>
          <p:cNvSpPr/>
          <p:nvPr/>
        </p:nvSpPr>
        <p:spPr>
          <a:xfrm>
            <a:off x="6430680" y="2028600"/>
            <a:ext cx="547560" cy="5475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72" name="Text 6"/>
          <p:cNvSpPr/>
          <p:nvPr/>
        </p:nvSpPr>
        <p:spPr>
          <a:xfrm>
            <a:off x="6649920" y="2130480"/>
            <a:ext cx="1090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710"/>
              </a:lnSpc>
              <a:tabLst>
                <a:tab algn="l" pos="0"/>
              </a:tabLst>
            </a:pPr>
            <a:r>
              <a:rPr b="0" lang="en-US" sz="2710" spc="-1" strike="noStrike">
                <a:solidFill>
                  <a:srgbClr val="d9e1ff"/>
                </a:solidFill>
                <a:latin typeface="Kanit"/>
                <a:ea typeface="Kanit"/>
              </a:rPr>
              <a:t>1</a:t>
            </a:r>
            <a:endParaRPr b="0" lang="en-US" sz="2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7"/>
          <p:cNvSpPr/>
          <p:nvPr/>
        </p:nvSpPr>
        <p:spPr>
          <a:xfrm>
            <a:off x="8045280" y="1998000"/>
            <a:ext cx="306504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823"/>
              </a:lnSpc>
              <a:tabLst>
                <a:tab algn="l" pos="0"/>
              </a:tabLst>
            </a:pPr>
            <a:r>
              <a:rPr b="0" lang="en-US" sz="2260" spc="-1" strike="noStrike">
                <a:solidFill>
                  <a:srgbClr val="d9e1ff"/>
                </a:solidFill>
                <a:latin typeface="Kanit"/>
                <a:ea typeface="Kanit"/>
              </a:rPr>
              <a:t>Front-End Development</a:t>
            </a:r>
            <a:endParaRPr b="0" lang="en-US" sz="2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8"/>
          <p:cNvSpPr/>
          <p:nvPr/>
        </p:nvSpPr>
        <p:spPr>
          <a:xfrm>
            <a:off x="8045280" y="2502720"/>
            <a:ext cx="5731560" cy="77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070"/>
              </a:lnSpc>
              <a:tabLst>
                <a:tab algn="l" pos="0"/>
              </a:tabLst>
            </a:pPr>
            <a:r>
              <a:rPr b="0" lang="en-US" sz="1920" spc="-1" strike="noStrike">
                <a:solidFill>
                  <a:srgbClr val="d9e1ff"/>
                </a:solidFill>
                <a:latin typeface="Martel Sans"/>
                <a:ea typeface="Martel Sans"/>
              </a:rPr>
              <a:t>HTML, CSS, JavaScript for responsive and intuitive UI.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9"/>
          <p:cNvSpPr/>
          <p:nvPr/>
        </p:nvSpPr>
        <p:spPr>
          <a:xfrm>
            <a:off x="6948720" y="4303080"/>
            <a:ext cx="852120" cy="29880"/>
          </a:xfrm>
          <a:prstGeom prst="roundRect">
            <a:avLst>
              <a:gd name="adj" fmla="val 119945"/>
            </a:avLst>
          </a:prstGeom>
          <a:solidFill>
            <a:srgbClr val="4844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76" name="Shape 10"/>
          <p:cNvSpPr/>
          <p:nvPr/>
        </p:nvSpPr>
        <p:spPr>
          <a:xfrm>
            <a:off x="6430680" y="4044240"/>
            <a:ext cx="547560" cy="5475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77" name="Text 11"/>
          <p:cNvSpPr/>
          <p:nvPr/>
        </p:nvSpPr>
        <p:spPr>
          <a:xfrm>
            <a:off x="6617160" y="4146120"/>
            <a:ext cx="17460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710"/>
              </a:lnSpc>
              <a:tabLst>
                <a:tab algn="l" pos="0"/>
              </a:tabLst>
            </a:pPr>
            <a:r>
              <a:rPr b="0" lang="en-US" sz="2710" spc="-1" strike="noStrike">
                <a:solidFill>
                  <a:srgbClr val="d9e1ff"/>
                </a:solidFill>
                <a:latin typeface="Kanit"/>
                <a:ea typeface="Kanit"/>
              </a:rPr>
              <a:t>2</a:t>
            </a:r>
            <a:endParaRPr b="0" lang="en-US" sz="2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2"/>
          <p:cNvSpPr/>
          <p:nvPr/>
        </p:nvSpPr>
        <p:spPr>
          <a:xfrm>
            <a:off x="8045280" y="4013640"/>
            <a:ext cx="30204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823"/>
              </a:lnSpc>
              <a:tabLst>
                <a:tab algn="l" pos="0"/>
              </a:tabLst>
            </a:pPr>
            <a:r>
              <a:rPr b="0" lang="en-US" sz="2260" spc="-1" strike="noStrike">
                <a:solidFill>
                  <a:srgbClr val="d9e1ff"/>
                </a:solidFill>
                <a:latin typeface="Kanit"/>
                <a:ea typeface="Kanit"/>
              </a:rPr>
              <a:t>Back-End Development</a:t>
            </a:r>
            <a:endParaRPr b="0" lang="en-US" sz="2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13"/>
          <p:cNvSpPr/>
          <p:nvPr/>
        </p:nvSpPr>
        <p:spPr>
          <a:xfrm>
            <a:off x="8045280" y="4518360"/>
            <a:ext cx="5731560" cy="77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070"/>
              </a:lnSpc>
              <a:tabLst>
                <a:tab algn="l" pos="0"/>
              </a:tabLst>
            </a:pPr>
            <a:r>
              <a:rPr b="0" lang="en-US" sz="1920" spc="-1" strike="noStrike">
                <a:solidFill>
                  <a:srgbClr val="d9e1ff"/>
                </a:solidFill>
                <a:latin typeface="Martel Sans"/>
                <a:ea typeface="Martel Sans"/>
              </a:rPr>
              <a:t>Node.js and PHP for robust server-side functionality.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4"/>
          <p:cNvSpPr/>
          <p:nvPr/>
        </p:nvSpPr>
        <p:spPr>
          <a:xfrm>
            <a:off x="6948720" y="6318360"/>
            <a:ext cx="852120" cy="29880"/>
          </a:xfrm>
          <a:prstGeom prst="roundRect">
            <a:avLst>
              <a:gd name="adj" fmla="val 119945"/>
            </a:avLst>
          </a:prstGeom>
          <a:solidFill>
            <a:srgbClr val="4844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81" name="Shape 15"/>
          <p:cNvSpPr/>
          <p:nvPr/>
        </p:nvSpPr>
        <p:spPr>
          <a:xfrm>
            <a:off x="6430680" y="6059520"/>
            <a:ext cx="547560" cy="5475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82" name="Text 16"/>
          <p:cNvSpPr/>
          <p:nvPr/>
        </p:nvSpPr>
        <p:spPr>
          <a:xfrm>
            <a:off x="6615360" y="6161760"/>
            <a:ext cx="1778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710"/>
              </a:lnSpc>
              <a:tabLst>
                <a:tab algn="l" pos="0"/>
              </a:tabLst>
            </a:pPr>
            <a:r>
              <a:rPr b="0" lang="en-US" sz="2710" spc="-1" strike="noStrike">
                <a:solidFill>
                  <a:srgbClr val="d9e1ff"/>
                </a:solidFill>
                <a:latin typeface="Kanit"/>
                <a:ea typeface="Kanit"/>
              </a:rPr>
              <a:t>3</a:t>
            </a:r>
            <a:endParaRPr b="0" lang="en-US" sz="2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7"/>
          <p:cNvSpPr/>
          <p:nvPr/>
        </p:nvSpPr>
        <p:spPr>
          <a:xfrm>
            <a:off x="8045280" y="6029280"/>
            <a:ext cx="28666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823"/>
              </a:lnSpc>
              <a:tabLst>
                <a:tab algn="l" pos="0"/>
              </a:tabLst>
            </a:pPr>
            <a:r>
              <a:rPr b="0" lang="en-US" sz="2260" spc="-1" strike="noStrike">
                <a:solidFill>
                  <a:srgbClr val="d9e1ff"/>
                </a:solidFill>
                <a:latin typeface="Kanit"/>
                <a:ea typeface="Kanit"/>
              </a:rPr>
              <a:t>AI Integration</a:t>
            </a:r>
            <a:endParaRPr b="0" lang="en-US" sz="2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8"/>
          <p:cNvSpPr/>
          <p:nvPr/>
        </p:nvSpPr>
        <p:spPr>
          <a:xfrm>
            <a:off x="8045280" y="6534000"/>
            <a:ext cx="5731560" cy="77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070"/>
              </a:lnSpc>
              <a:tabLst>
                <a:tab algn="l" pos="0"/>
              </a:tabLst>
            </a:pPr>
            <a:r>
              <a:rPr b="0" lang="en-US" sz="1920" spc="-1" strike="noStrike">
                <a:solidFill>
                  <a:srgbClr val="d9e1ff"/>
                </a:solidFill>
                <a:latin typeface="Martel Sans"/>
                <a:ea typeface="Martel Sans"/>
              </a:rPr>
              <a:t>Image Detection Model, Attention Tracker API, and GPT Chatbot for enhanced engagement.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8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28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2988360"/>
          </a:xfrm>
          <a:prstGeom prst="rect">
            <a:avLst/>
          </a:prstGeom>
          <a:ln w="0">
            <a:noFill/>
          </a:ln>
        </p:spPr>
      </p:pic>
      <p:sp>
        <p:nvSpPr>
          <p:cNvPr id="288" name="Text 2"/>
          <p:cNvSpPr/>
          <p:nvPr/>
        </p:nvSpPr>
        <p:spPr>
          <a:xfrm>
            <a:off x="1167840" y="3647160"/>
            <a:ext cx="5626080" cy="70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539"/>
              </a:lnSpc>
              <a:tabLst>
                <a:tab algn="l" pos="0"/>
              </a:tabLst>
            </a:pPr>
            <a:r>
              <a:rPr b="0" lang="en-US" sz="4430" spc="-1" strike="noStrike">
                <a:solidFill>
                  <a:srgbClr val="ffffff"/>
                </a:solidFill>
                <a:latin typeface="Kanit"/>
                <a:ea typeface="Kanit"/>
              </a:rPr>
              <a:t>AI Integration</a:t>
            </a:r>
            <a:endParaRPr b="0" lang="en-US" sz="4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Image 1" descr="preencoded.png"/>
          <p:cNvPicPr/>
          <p:nvPr/>
        </p:nvPicPr>
        <p:blipFill>
          <a:blip r:embed="rId2"/>
          <a:stretch/>
        </p:blipFill>
        <p:spPr>
          <a:xfrm>
            <a:off x="1167840" y="4709160"/>
            <a:ext cx="597240" cy="597240"/>
          </a:xfrm>
          <a:prstGeom prst="rect">
            <a:avLst/>
          </a:prstGeom>
          <a:ln w="0">
            <a:noFill/>
          </a:ln>
        </p:spPr>
      </p:pic>
      <p:sp>
        <p:nvSpPr>
          <p:cNvPr id="290" name="Text 3"/>
          <p:cNvSpPr/>
          <p:nvPr/>
        </p:nvSpPr>
        <p:spPr>
          <a:xfrm>
            <a:off x="1167840" y="5545800"/>
            <a:ext cx="288180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69"/>
              </a:lnSpc>
              <a:tabLst>
                <a:tab algn="l" pos="0"/>
              </a:tabLst>
            </a:pPr>
            <a:r>
              <a:rPr b="0" lang="en-US" sz="2210" spc="-1" strike="noStrike">
                <a:solidFill>
                  <a:srgbClr val="d9e1ff"/>
                </a:solidFill>
                <a:latin typeface="Kanit"/>
                <a:ea typeface="Kanit"/>
              </a:rPr>
              <a:t>Image Detection Model</a:t>
            </a:r>
            <a:endParaRPr b="0" lang="en-US" sz="2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1167840" y="6041160"/>
            <a:ext cx="3858480" cy="11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013"/>
              </a:lnSpc>
              <a:tabLst>
                <a:tab algn="l" pos="0"/>
              </a:tabLst>
            </a:pPr>
            <a:r>
              <a:rPr b="0" lang="en-US" sz="1890" spc="-1" strike="noStrike">
                <a:solidFill>
                  <a:srgbClr val="d9e1ff"/>
                </a:solidFill>
                <a:latin typeface="Martel Sans"/>
                <a:ea typeface="Martel Sans"/>
              </a:rPr>
              <a:t>Tracks student attention during online meetings. Triggers pop-up notifications for lack of focus.</a:t>
            </a:r>
            <a:endParaRPr b="0" lang="en-US" sz="18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Image 2" descr="preencoded.png"/>
          <p:cNvPicPr/>
          <p:nvPr/>
        </p:nvPicPr>
        <p:blipFill>
          <a:blip r:embed="rId3"/>
          <a:stretch/>
        </p:blipFill>
        <p:spPr>
          <a:xfrm>
            <a:off x="5385600" y="4709160"/>
            <a:ext cx="597240" cy="597240"/>
          </a:xfrm>
          <a:prstGeom prst="rect">
            <a:avLst/>
          </a:prstGeom>
          <a:ln w="0">
            <a:noFill/>
          </a:ln>
        </p:spPr>
      </p:pic>
      <p:sp>
        <p:nvSpPr>
          <p:cNvPr id="293" name="Text 5"/>
          <p:cNvSpPr/>
          <p:nvPr/>
        </p:nvSpPr>
        <p:spPr>
          <a:xfrm>
            <a:off x="5385600" y="5545800"/>
            <a:ext cx="28126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69"/>
              </a:lnSpc>
              <a:tabLst>
                <a:tab algn="l" pos="0"/>
              </a:tabLst>
            </a:pPr>
            <a:r>
              <a:rPr b="0" lang="en-US" sz="2210" spc="-1" strike="noStrike">
                <a:solidFill>
                  <a:srgbClr val="d9e1ff"/>
                </a:solidFill>
                <a:latin typeface="Kanit"/>
                <a:ea typeface="Kanit"/>
              </a:rPr>
              <a:t>Attention Tracker API</a:t>
            </a:r>
            <a:endParaRPr b="0" lang="en-US" sz="2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6"/>
          <p:cNvSpPr/>
          <p:nvPr/>
        </p:nvSpPr>
        <p:spPr>
          <a:xfrm>
            <a:off x="5385600" y="6041160"/>
            <a:ext cx="3858480" cy="15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013"/>
              </a:lnSpc>
              <a:tabLst>
                <a:tab algn="l" pos="0"/>
              </a:tabLst>
            </a:pPr>
            <a:r>
              <a:rPr b="0" lang="en-US" sz="1890" spc="-1" strike="noStrike">
                <a:solidFill>
                  <a:srgbClr val="d9e1ff"/>
                </a:solidFill>
                <a:latin typeface="Martel Sans"/>
                <a:ea typeface="Martel Sans"/>
              </a:rPr>
              <a:t>Monitors and analyzes student engagement in real-time. Provides insights to students and instructors.</a:t>
            </a:r>
            <a:endParaRPr b="0" lang="en-US" sz="18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Image 3" descr="preencoded.png"/>
          <p:cNvPicPr/>
          <p:nvPr/>
        </p:nvPicPr>
        <p:blipFill>
          <a:blip r:embed="rId4"/>
          <a:stretch/>
        </p:blipFill>
        <p:spPr>
          <a:xfrm>
            <a:off x="9603360" y="4709160"/>
            <a:ext cx="597240" cy="597240"/>
          </a:xfrm>
          <a:prstGeom prst="rect">
            <a:avLst/>
          </a:prstGeom>
          <a:ln w="0">
            <a:noFill/>
          </a:ln>
        </p:spPr>
      </p:pic>
      <p:sp>
        <p:nvSpPr>
          <p:cNvPr id="296" name="Text 7"/>
          <p:cNvSpPr/>
          <p:nvPr/>
        </p:nvSpPr>
        <p:spPr>
          <a:xfrm>
            <a:off x="9603360" y="5545800"/>
            <a:ext cx="28126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69"/>
              </a:lnSpc>
              <a:tabLst>
                <a:tab algn="l" pos="0"/>
              </a:tabLst>
            </a:pPr>
            <a:r>
              <a:rPr b="0" lang="en-US" sz="2210" spc="-1" strike="noStrike">
                <a:solidFill>
                  <a:srgbClr val="d9e1ff"/>
                </a:solidFill>
                <a:latin typeface="Kanit"/>
                <a:ea typeface="Kanit"/>
              </a:rPr>
              <a:t>GPT Chatbot</a:t>
            </a:r>
            <a:endParaRPr b="0" lang="en-US" sz="2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9603360" y="6041160"/>
            <a:ext cx="3858480" cy="15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013"/>
              </a:lnSpc>
              <a:tabLst>
                <a:tab algn="l" pos="0"/>
              </a:tabLst>
            </a:pPr>
            <a:r>
              <a:rPr b="0" lang="en-US" sz="1890" spc="-1" strike="noStrike">
                <a:solidFill>
                  <a:srgbClr val="d9e1ff"/>
                </a:solidFill>
                <a:latin typeface="Martel Sans"/>
                <a:ea typeface="Martel Sans"/>
              </a:rPr>
              <a:t>Offers personalized feedback based on performance and participation. Utilizes advanced natural language processing.</a:t>
            </a:r>
            <a:endParaRPr b="0" lang="en-US" sz="18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99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30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301" name="Text 2"/>
          <p:cNvSpPr/>
          <p:nvPr/>
        </p:nvSpPr>
        <p:spPr>
          <a:xfrm>
            <a:off x="6260040" y="785520"/>
            <a:ext cx="5418720" cy="64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119"/>
              </a:lnSpc>
              <a:tabLst>
                <a:tab algn="l" pos="0"/>
              </a:tabLst>
            </a:pPr>
            <a:r>
              <a:rPr b="0" lang="en-US" sz="4100" spc="-1" strike="noStrike">
                <a:solidFill>
                  <a:srgbClr val="ffffff"/>
                </a:solidFill>
                <a:latin typeface="Kanit"/>
                <a:ea typeface="Kanit"/>
              </a:rPr>
              <a:t>Technologies and Tools</a:t>
            </a:r>
            <a:endParaRPr b="0" lang="en-US" sz="4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6260040" y="1767240"/>
            <a:ext cx="7595640" cy="1252800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03" name="Text 4"/>
          <p:cNvSpPr/>
          <p:nvPr/>
        </p:nvSpPr>
        <p:spPr>
          <a:xfrm>
            <a:off x="6481080" y="1988280"/>
            <a:ext cx="260028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56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d9e1ff"/>
                </a:solidFill>
                <a:latin typeface="Kanit"/>
                <a:ea typeface="Kanit"/>
              </a:rPr>
              <a:t>Front-End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6481080" y="2446200"/>
            <a:ext cx="715392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1" strike="noStrike">
                <a:solidFill>
                  <a:srgbClr val="d9e1ff"/>
                </a:solidFill>
                <a:latin typeface="Martel Sans"/>
                <a:ea typeface="Martel Sans"/>
              </a:rPr>
              <a:t>HTML, CSS, JavaScript for responsive UI with smooth transitions.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6"/>
          <p:cNvSpPr/>
          <p:nvPr/>
        </p:nvSpPr>
        <p:spPr>
          <a:xfrm>
            <a:off x="6260040" y="3241800"/>
            <a:ext cx="7595640" cy="1252800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06" name="Text 7"/>
          <p:cNvSpPr/>
          <p:nvPr/>
        </p:nvSpPr>
        <p:spPr>
          <a:xfrm>
            <a:off x="6481080" y="3462840"/>
            <a:ext cx="260028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56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d9e1ff"/>
                </a:solidFill>
                <a:latin typeface="Kanit"/>
                <a:ea typeface="Kanit"/>
              </a:rPr>
              <a:t>Back-End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8"/>
          <p:cNvSpPr/>
          <p:nvPr/>
        </p:nvSpPr>
        <p:spPr>
          <a:xfrm>
            <a:off x="6481080" y="3920400"/>
            <a:ext cx="715392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1" strike="noStrike">
                <a:solidFill>
                  <a:srgbClr val="d9e1ff"/>
                </a:solidFill>
                <a:latin typeface="Martel Sans"/>
                <a:ea typeface="Martel Sans"/>
              </a:rPr>
              <a:t>Node.js and PHP for scalable server-side operations.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9"/>
          <p:cNvSpPr/>
          <p:nvPr/>
        </p:nvSpPr>
        <p:spPr>
          <a:xfrm>
            <a:off x="6260040" y="4716360"/>
            <a:ext cx="7595640" cy="1252800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6481080" y="4937040"/>
            <a:ext cx="260028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56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d9e1ff"/>
                </a:solidFill>
                <a:latin typeface="Kanit"/>
                <a:ea typeface="Kanit"/>
              </a:rPr>
              <a:t>Version Control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1"/>
          <p:cNvSpPr/>
          <p:nvPr/>
        </p:nvSpPr>
        <p:spPr>
          <a:xfrm>
            <a:off x="6481080" y="5394960"/>
            <a:ext cx="715392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1" strike="noStrike">
                <a:solidFill>
                  <a:srgbClr val="d9e1ff"/>
                </a:solidFill>
                <a:latin typeface="Martel Sans"/>
                <a:ea typeface="Martel Sans"/>
              </a:rPr>
              <a:t>Git for collaborative development and change tracking.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2"/>
          <p:cNvSpPr/>
          <p:nvPr/>
        </p:nvSpPr>
        <p:spPr>
          <a:xfrm>
            <a:off x="6260040" y="6190560"/>
            <a:ext cx="7595640" cy="1252800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2" name="Text 13"/>
          <p:cNvSpPr/>
          <p:nvPr/>
        </p:nvSpPr>
        <p:spPr>
          <a:xfrm>
            <a:off x="6481080" y="6411600"/>
            <a:ext cx="260028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56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d9e1ff"/>
                </a:solidFill>
                <a:latin typeface="Kanit"/>
                <a:ea typeface="Kanit"/>
              </a:rPr>
              <a:t>Project Management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14"/>
          <p:cNvSpPr/>
          <p:nvPr/>
        </p:nvSpPr>
        <p:spPr>
          <a:xfrm>
            <a:off x="6481080" y="6869520"/>
            <a:ext cx="715392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84"/>
              </a:lnSpc>
              <a:tabLst>
                <a:tab algn="l" pos="0"/>
              </a:tabLst>
            </a:pPr>
            <a:r>
              <a:rPr b="0" lang="en-US" sz="1740" spc="-1" strike="noStrike">
                <a:solidFill>
                  <a:srgbClr val="d9e1ff"/>
                </a:solidFill>
                <a:latin typeface="Martel Sans"/>
                <a:ea typeface="Martel Sans"/>
              </a:rPr>
              <a:t>Jira or Trello for task organization and progress tracking.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968760" y="2237040"/>
            <a:ext cx="61351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717"/>
              </a:lnSpc>
              <a:tabLst>
                <a:tab algn="l" pos="0"/>
              </a:tabLst>
            </a:pPr>
            <a:r>
              <a:rPr b="0" lang="en-US" sz="4580" spc="-1" strike="noStrike">
                <a:solidFill>
                  <a:srgbClr val="ffffff"/>
                </a:solidFill>
                <a:latin typeface="Kanit"/>
                <a:ea typeface="Kanit"/>
              </a:rPr>
              <a:t>Competitive Advantage</a:t>
            </a:r>
            <a:endParaRPr b="0" lang="en-US" sz="4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968760" y="3580200"/>
            <a:ext cx="2903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ffffff"/>
                </a:solidFill>
                <a:latin typeface="Kanit"/>
                <a:ea typeface="Kanit"/>
              </a:rPr>
              <a:t>Existing Solutions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968760" y="4190040"/>
            <a:ext cx="382824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Google Classroom, Microsoft Teams, Zoom: Limited AI features.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5407560" y="3580200"/>
            <a:ext cx="2903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ffffff"/>
                </a:solidFill>
                <a:latin typeface="Kanit"/>
                <a:ea typeface="Kanit"/>
              </a:rPr>
              <a:t>ClassConnect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5407560" y="4190040"/>
            <a:ext cx="3828240" cy="15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Integrated AI-driven engagement and personalized feedback. Enhanced student engagement through attention tracking.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9846360" y="3580200"/>
            <a:ext cx="2903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ffffff"/>
                </a:solidFill>
                <a:latin typeface="Kanit"/>
                <a:ea typeface="Kanit"/>
              </a:rPr>
              <a:t>Benefits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9846360" y="4190040"/>
            <a:ext cx="3828240" cy="15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More immersive and effective online learning experience. Improved focus and academic performance.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24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32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2635920"/>
          </a:xfrm>
          <a:prstGeom prst="rect">
            <a:avLst/>
          </a:prstGeom>
          <a:ln w="0">
            <a:noFill/>
          </a:ln>
        </p:spPr>
      </p:pic>
      <p:sp>
        <p:nvSpPr>
          <p:cNvPr id="326" name="Text 2"/>
          <p:cNvSpPr/>
          <p:nvPr/>
        </p:nvSpPr>
        <p:spPr>
          <a:xfrm>
            <a:off x="1892520" y="3216960"/>
            <a:ext cx="73854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4884"/>
              </a:lnSpc>
              <a:tabLst>
                <a:tab algn="l" pos="0"/>
              </a:tabLst>
            </a:pPr>
            <a:r>
              <a:rPr b="0" lang="en-US" sz="3909" spc="-1" strike="noStrike">
                <a:solidFill>
                  <a:srgbClr val="ffffff"/>
                </a:solidFill>
                <a:latin typeface="Kanit"/>
                <a:ea typeface="Kanit"/>
              </a:rPr>
              <a:t>Future Development &amp; Scalability</a:t>
            </a:r>
            <a:endParaRPr b="0" lang="en-US" sz="390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7" name="Image 1" descr="preencoded.png"/>
          <p:cNvPicPr/>
          <p:nvPr/>
        </p:nvPicPr>
        <p:blipFill>
          <a:blip r:embed="rId2"/>
          <a:stretch/>
        </p:blipFill>
        <p:spPr>
          <a:xfrm>
            <a:off x="1892520" y="4153680"/>
            <a:ext cx="3614400" cy="843120"/>
          </a:xfrm>
          <a:prstGeom prst="rect">
            <a:avLst/>
          </a:prstGeom>
          <a:ln w="0">
            <a:noFill/>
          </a:ln>
        </p:spPr>
      </p:pic>
      <p:sp>
        <p:nvSpPr>
          <p:cNvPr id="328" name="Text 3"/>
          <p:cNvSpPr/>
          <p:nvPr/>
        </p:nvSpPr>
        <p:spPr>
          <a:xfrm>
            <a:off x="2103480" y="5313960"/>
            <a:ext cx="2481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443"/>
              </a:lnSpc>
              <a:tabLst>
                <a:tab algn="l" pos="0"/>
              </a:tabLst>
            </a:pPr>
            <a:r>
              <a:rPr b="0" lang="en-US" sz="1960" spc="-1" strike="noStrike">
                <a:solidFill>
                  <a:srgbClr val="d9e1ff"/>
                </a:solidFill>
                <a:latin typeface="Kanit"/>
                <a:ea typeface="Kanit"/>
              </a:rPr>
              <a:t>Expansion</a:t>
            </a:r>
            <a:endParaRPr b="0" lang="en-US" sz="1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2103480" y="5750640"/>
            <a:ext cx="3192480" cy="16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659"/>
              </a:lnSpc>
              <a:tabLst>
                <a:tab algn="l" pos="0"/>
              </a:tabLst>
            </a:pPr>
            <a:r>
              <a:rPr b="0" lang="en-US" sz="1660" spc="-1" strike="noStrike">
                <a:solidFill>
                  <a:srgbClr val="d9e1ff"/>
                </a:solidFill>
                <a:latin typeface="Martel Sans"/>
                <a:ea typeface="Martel Sans"/>
              </a:rPr>
              <a:t>Adding gamification elements. Incorporating advanced analytics. Expanding AI capabilities for personalized learning.</a:t>
            </a:r>
            <a:endParaRPr b="0" lang="en-US" sz="16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Image 2" descr="preencoded.png"/>
          <p:cNvPicPr/>
          <p:nvPr/>
        </p:nvPicPr>
        <p:blipFill>
          <a:blip r:embed="rId3"/>
          <a:stretch/>
        </p:blipFill>
        <p:spPr>
          <a:xfrm>
            <a:off x="5507640" y="4153680"/>
            <a:ext cx="3614400" cy="843120"/>
          </a:xfrm>
          <a:prstGeom prst="rect">
            <a:avLst/>
          </a:prstGeom>
          <a:ln w="0">
            <a:noFill/>
          </a:ln>
        </p:spPr>
      </p:pic>
      <p:sp>
        <p:nvSpPr>
          <p:cNvPr id="331" name="Text 5"/>
          <p:cNvSpPr/>
          <p:nvPr/>
        </p:nvSpPr>
        <p:spPr>
          <a:xfrm>
            <a:off x="5718600" y="5313960"/>
            <a:ext cx="2481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443"/>
              </a:lnSpc>
              <a:tabLst>
                <a:tab algn="l" pos="0"/>
              </a:tabLst>
            </a:pPr>
            <a:r>
              <a:rPr b="0" lang="en-US" sz="1960" spc="-1" strike="noStrike">
                <a:solidFill>
                  <a:srgbClr val="d9e1ff"/>
                </a:solidFill>
                <a:latin typeface="Kanit"/>
                <a:ea typeface="Kanit"/>
              </a:rPr>
              <a:t>Scalability</a:t>
            </a:r>
            <a:endParaRPr b="0" lang="en-US" sz="1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5718600" y="5750640"/>
            <a:ext cx="3192480" cy="13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659"/>
              </a:lnSpc>
              <a:tabLst>
                <a:tab algn="l" pos="0"/>
              </a:tabLst>
            </a:pPr>
            <a:r>
              <a:rPr b="0" lang="en-US" sz="1660" spc="-1" strike="noStrike">
                <a:solidFill>
                  <a:srgbClr val="d9e1ff"/>
                </a:solidFill>
                <a:latin typeface="Martel Sans"/>
                <a:ea typeface="Martel Sans"/>
              </a:rPr>
              <a:t>Designing for growing user base. Ensuring robust performance with scalable server architecture.</a:t>
            </a:r>
            <a:endParaRPr b="0" lang="en-US" sz="16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3" name="Image 3" descr="preencoded.png"/>
          <p:cNvPicPr/>
          <p:nvPr/>
        </p:nvPicPr>
        <p:blipFill>
          <a:blip r:embed="rId4"/>
          <a:stretch/>
        </p:blipFill>
        <p:spPr>
          <a:xfrm>
            <a:off x="9122760" y="4153680"/>
            <a:ext cx="3614400" cy="843120"/>
          </a:xfrm>
          <a:prstGeom prst="rect">
            <a:avLst/>
          </a:prstGeom>
          <a:ln w="0">
            <a:noFill/>
          </a:ln>
        </p:spPr>
      </p:pic>
      <p:sp>
        <p:nvSpPr>
          <p:cNvPr id="334" name="Text 7"/>
          <p:cNvSpPr/>
          <p:nvPr/>
        </p:nvSpPr>
        <p:spPr>
          <a:xfrm>
            <a:off x="9333720" y="5313960"/>
            <a:ext cx="2481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443"/>
              </a:lnSpc>
              <a:tabLst>
                <a:tab algn="l" pos="0"/>
              </a:tabLst>
            </a:pPr>
            <a:r>
              <a:rPr b="0" lang="en-US" sz="1960" spc="-1" strike="noStrike">
                <a:solidFill>
                  <a:srgbClr val="d9e1ff"/>
                </a:solidFill>
                <a:latin typeface="Kanit"/>
                <a:ea typeface="Kanit"/>
              </a:rPr>
              <a:t>Long-Term Vision</a:t>
            </a:r>
            <a:endParaRPr b="0" lang="en-US" sz="1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8"/>
          <p:cNvSpPr/>
          <p:nvPr/>
        </p:nvSpPr>
        <p:spPr>
          <a:xfrm>
            <a:off x="9333720" y="5750640"/>
            <a:ext cx="3192480" cy="16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659"/>
              </a:lnSpc>
              <a:tabLst>
                <a:tab algn="l" pos="0"/>
              </a:tabLst>
            </a:pPr>
            <a:r>
              <a:rPr b="0" lang="en-US" sz="1660" spc="-1" strike="noStrike">
                <a:solidFill>
                  <a:srgbClr val="d9e1ff"/>
                </a:solidFill>
                <a:latin typeface="Martel Sans"/>
                <a:ea typeface="Martel Sans"/>
              </a:rPr>
              <a:t>Establishing ClassConnect as leading virtual learning platform. Continuous innovation for evolving educational needs.</a:t>
            </a:r>
            <a:endParaRPr b="0" lang="en-US" sz="16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37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338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339" name="Text 2"/>
          <p:cNvSpPr/>
          <p:nvPr/>
        </p:nvSpPr>
        <p:spPr>
          <a:xfrm>
            <a:off x="864000" y="951480"/>
            <a:ext cx="70250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717"/>
              </a:lnSpc>
              <a:tabLst>
                <a:tab algn="l" pos="0"/>
              </a:tabLst>
            </a:pPr>
            <a:r>
              <a:rPr b="0" lang="en-US" sz="4580" spc="-1" strike="noStrike">
                <a:solidFill>
                  <a:srgbClr val="ffffff"/>
                </a:solidFill>
                <a:latin typeface="Kanit"/>
                <a:ea typeface="Kanit"/>
              </a:rPr>
              <a:t>Conclusion &amp; Call to Action</a:t>
            </a:r>
            <a:endParaRPr b="0" lang="en-US" sz="4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"/>
          <p:cNvSpPr/>
          <p:nvPr/>
        </p:nvSpPr>
        <p:spPr>
          <a:xfrm>
            <a:off x="864000" y="2325240"/>
            <a:ext cx="554760" cy="5547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41" name="Text 4"/>
          <p:cNvSpPr/>
          <p:nvPr/>
        </p:nvSpPr>
        <p:spPr>
          <a:xfrm>
            <a:off x="1086120" y="2428920"/>
            <a:ext cx="1105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744"/>
              </a:lnSpc>
              <a:tabLst>
                <a:tab algn="l" pos="0"/>
              </a:tabLst>
            </a:pPr>
            <a:r>
              <a:rPr b="0" lang="en-US" sz="2740" spc="-1" strike="noStrike">
                <a:solidFill>
                  <a:srgbClr val="d9e1ff"/>
                </a:solidFill>
                <a:latin typeface="Kanit"/>
                <a:ea typeface="Kanit"/>
              </a:rPr>
              <a:t>1</a:t>
            </a:r>
            <a:endParaRPr b="0" lang="en-US" sz="2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1666440" y="2325240"/>
            <a:ext cx="2903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d9e1ff"/>
                </a:solidFill>
                <a:latin typeface="Kanit"/>
                <a:ea typeface="Kanit"/>
              </a:rPr>
              <a:t>Summary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6"/>
          <p:cNvSpPr/>
          <p:nvPr/>
        </p:nvSpPr>
        <p:spPr>
          <a:xfrm>
            <a:off x="1666440" y="2836440"/>
            <a:ext cx="66128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ClassConnect addresses key challenges in online learning with AI-driven solutions.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7"/>
          <p:cNvSpPr/>
          <p:nvPr/>
        </p:nvSpPr>
        <p:spPr>
          <a:xfrm>
            <a:off x="864000" y="4151160"/>
            <a:ext cx="554760" cy="5547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45" name="Text 8"/>
          <p:cNvSpPr/>
          <p:nvPr/>
        </p:nvSpPr>
        <p:spPr>
          <a:xfrm>
            <a:off x="1053000" y="4254480"/>
            <a:ext cx="17676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744"/>
              </a:lnSpc>
              <a:tabLst>
                <a:tab algn="l" pos="0"/>
              </a:tabLst>
            </a:pPr>
            <a:r>
              <a:rPr b="0" lang="en-US" sz="2740" spc="-1" strike="noStrike">
                <a:solidFill>
                  <a:srgbClr val="d9e1ff"/>
                </a:solidFill>
                <a:latin typeface="Kanit"/>
                <a:ea typeface="Kanit"/>
              </a:rPr>
              <a:t>2</a:t>
            </a:r>
            <a:endParaRPr b="0" lang="en-US" sz="2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9"/>
          <p:cNvSpPr/>
          <p:nvPr/>
        </p:nvSpPr>
        <p:spPr>
          <a:xfrm>
            <a:off x="1666440" y="4151160"/>
            <a:ext cx="2903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d9e1ff"/>
                </a:solidFill>
                <a:latin typeface="Kanit"/>
                <a:ea typeface="Kanit"/>
              </a:rPr>
              <a:t>Benefits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0"/>
          <p:cNvSpPr/>
          <p:nvPr/>
        </p:nvSpPr>
        <p:spPr>
          <a:xfrm>
            <a:off x="1666440" y="4662360"/>
            <a:ext cx="66128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Enhances student engagement and provides personalized feedback.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1"/>
          <p:cNvSpPr/>
          <p:nvPr/>
        </p:nvSpPr>
        <p:spPr>
          <a:xfrm>
            <a:off x="864000" y="5977080"/>
            <a:ext cx="554760" cy="5547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49" name="Text 12"/>
          <p:cNvSpPr/>
          <p:nvPr/>
        </p:nvSpPr>
        <p:spPr>
          <a:xfrm>
            <a:off x="1051200" y="6080400"/>
            <a:ext cx="18036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744"/>
              </a:lnSpc>
              <a:tabLst>
                <a:tab algn="l" pos="0"/>
              </a:tabLst>
            </a:pPr>
            <a:r>
              <a:rPr b="0" lang="en-US" sz="2740" spc="-1" strike="noStrike">
                <a:solidFill>
                  <a:srgbClr val="d9e1ff"/>
                </a:solidFill>
                <a:latin typeface="Kanit"/>
                <a:ea typeface="Kanit"/>
              </a:rPr>
              <a:t>3</a:t>
            </a:r>
            <a:endParaRPr b="0" lang="en-US" sz="2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3"/>
          <p:cNvSpPr/>
          <p:nvPr/>
        </p:nvSpPr>
        <p:spPr>
          <a:xfrm>
            <a:off x="1666440" y="5977080"/>
            <a:ext cx="2903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860"/>
              </a:lnSpc>
              <a:tabLst>
                <a:tab algn="l" pos="0"/>
              </a:tabLst>
            </a:pPr>
            <a:r>
              <a:rPr b="0" lang="en-US" sz="2280" spc="-1" strike="noStrike">
                <a:solidFill>
                  <a:srgbClr val="d9e1ff"/>
                </a:solidFill>
                <a:latin typeface="Kanit"/>
                <a:ea typeface="Kanit"/>
              </a:rPr>
              <a:t>Next Steps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4"/>
          <p:cNvSpPr/>
          <p:nvPr/>
        </p:nvSpPr>
        <p:spPr>
          <a:xfrm>
            <a:off x="1666440" y="6488280"/>
            <a:ext cx="66128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Seeking partnerships, user testing, and feedback. Invitation for questions and further discussion.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53" name="Shape 1"/>
          <p:cNvSpPr/>
          <p:nvPr/>
        </p:nvSpPr>
        <p:spPr>
          <a:xfrm>
            <a:off x="0" y="0"/>
            <a:ext cx="14630040" cy="823140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35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31400"/>
          </a:xfrm>
          <a:prstGeom prst="rect">
            <a:avLst/>
          </a:prstGeom>
          <a:ln w="0">
            <a:noFill/>
          </a:ln>
        </p:spPr>
      </p:pic>
      <p:sp>
        <p:nvSpPr>
          <p:cNvPr id="355" name="Text 2"/>
          <p:cNvSpPr/>
          <p:nvPr/>
        </p:nvSpPr>
        <p:spPr>
          <a:xfrm>
            <a:off x="6172200" y="538920"/>
            <a:ext cx="460944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4538"/>
              </a:lnSpc>
              <a:tabLst>
                <a:tab algn="l" pos="0"/>
              </a:tabLst>
            </a:pPr>
            <a:r>
              <a:rPr b="0" lang="en-US" sz="3630" spc="-1" strike="noStrike">
                <a:solidFill>
                  <a:srgbClr val="ffffff"/>
                </a:solidFill>
                <a:latin typeface="Kanit"/>
                <a:ea typeface="Kanit"/>
              </a:rPr>
              <a:t>Future Roadmap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3"/>
          <p:cNvSpPr/>
          <p:nvPr/>
        </p:nvSpPr>
        <p:spPr>
          <a:xfrm>
            <a:off x="6454440" y="1409040"/>
            <a:ext cx="22680" cy="6283800"/>
          </a:xfrm>
          <a:prstGeom prst="roundRect">
            <a:avLst>
              <a:gd name="adj" fmla="val 128552"/>
            </a:avLst>
          </a:prstGeom>
          <a:solidFill>
            <a:srgbClr val="4844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6663600" y="1838160"/>
            <a:ext cx="685440" cy="22680"/>
          </a:xfrm>
          <a:prstGeom prst="roundRect">
            <a:avLst>
              <a:gd name="adj" fmla="val 128552"/>
            </a:avLst>
          </a:prstGeom>
          <a:solidFill>
            <a:srgbClr val="4844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58" name="Shape 5"/>
          <p:cNvSpPr/>
          <p:nvPr/>
        </p:nvSpPr>
        <p:spPr>
          <a:xfrm>
            <a:off x="6245640" y="1629360"/>
            <a:ext cx="440280" cy="440280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59" name="Text 6"/>
          <p:cNvSpPr/>
          <p:nvPr/>
        </p:nvSpPr>
        <p:spPr>
          <a:xfrm>
            <a:off x="6421680" y="1711440"/>
            <a:ext cx="878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177"/>
              </a:lnSpc>
              <a:tabLst>
                <a:tab algn="l" pos="0"/>
              </a:tabLst>
            </a:pPr>
            <a:r>
              <a:rPr b="0" lang="en-US" sz="2180" spc="-1" strike="noStrike">
                <a:solidFill>
                  <a:srgbClr val="d9e1ff"/>
                </a:solidFill>
                <a:latin typeface="Kanit"/>
                <a:ea typeface="Kanit"/>
              </a:rPr>
              <a:t>1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7"/>
          <p:cNvSpPr/>
          <p:nvPr/>
        </p:nvSpPr>
        <p:spPr>
          <a:xfrm>
            <a:off x="7543440" y="1604880"/>
            <a:ext cx="2304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68"/>
              </a:lnSpc>
              <a:tabLst>
                <a:tab algn="l" pos="0"/>
              </a:tabLst>
            </a:pPr>
            <a:r>
              <a:rPr b="0" lang="en-US" sz="1810" spc="-1" strike="noStrike">
                <a:solidFill>
                  <a:srgbClr val="d9e1ff"/>
                </a:solidFill>
                <a:latin typeface="Kanit"/>
                <a:ea typeface="Kanit"/>
              </a:rPr>
              <a:t>Q4 2024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7543440" y="2010240"/>
            <a:ext cx="6400800" cy="6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469"/>
              </a:lnSpc>
              <a:tabLst>
                <a:tab algn="l" pos="0"/>
              </a:tabLst>
            </a:pPr>
            <a:r>
              <a:rPr b="0" lang="en-US" sz="1540" spc="-1" strike="noStrike">
                <a:solidFill>
                  <a:srgbClr val="d9e1ff"/>
                </a:solidFill>
                <a:latin typeface="Martel Sans"/>
                <a:ea typeface="Martel Sans"/>
              </a:rPr>
              <a:t>Beta release and initial user testing. Gather feedback from early adopters.</a:t>
            </a:r>
            <a:endParaRPr b="0" lang="en-US" sz="1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9"/>
          <p:cNvSpPr/>
          <p:nvPr/>
        </p:nvSpPr>
        <p:spPr>
          <a:xfrm>
            <a:off x="6663600" y="3458160"/>
            <a:ext cx="685440" cy="22680"/>
          </a:xfrm>
          <a:prstGeom prst="roundRect">
            <a:avLst>
              <a:gd name="adj" fmla="val 128552"/>
            </a:avLst>
          </a:prstGeom>
          <a:solidFill>
            <a:srgbClr val="4844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63" name="Shape 10"/>
          <p:cNvSpPr/>
          <p:nvPr/>
        </p:nvSpPr>
        <p:spPr>
          <a:xfrm>
            <a:off x="6245640" y="3249360"/>
            <a:ext cx="440280" cy="440280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64" name="Text 11"/>
          <p:cNvSpPr/>
          <p:nvPr/>
        </p:nvSpPr>
        <p:spPr>
          <a:xfrm>
            <a:off x="6395400" y="3331080"/>
            <a:ext cx="1404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177"/>
              </a:lnSpc>
              <a:tabLst>
                <a:tab algn="l" pos="0"/>
              </a:tabLst>
            </a:pPr>
            <a:r>
              <a:rPr b="0" lang="en-US" sz="2180" spc="-1" strike="noStrike">
                <a:solidFill>
                  <a:srgbClr val="d9e1ff"/>
                </a:solidFill>
                <a:latin typeface="Kanit"/>
                <a:ea typeface="Kanit"/>
              </a:rPr>
              <a:t>2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2"/>
          <p:cNvSpPr/>
          <p:nvPr/>
        </p:nvSpPr>
        <p:spPr>
          <a:xfrm>
            <a:off x="7543440" y="3224520"/>
            <a:ext cx="2304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68"/>
              </a:lnSpc>
              <a:tabLst>
                <a:tab algn="l" pos="0"/>
              </a:tabLst>
            </a:pPr>
            <a:r>
              <a:rPr b="0" lang="en-US" sz="1810" spc="-1" strike="noStrike">
                <a:solidFill>
                  <a:srgbClr val="d9e1ff"/>
                </a:solidFill>
                <a:latin typeface="Kanit"/>
                <a:ea typeface="Kanit"/>
              </a:rPr>
              <a:t>Q1 2025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13"/>
          <p:cNvSpPr/>
          <p:nvPr/>
        </p:nvSpPr>
        <p:spPr>
          <a:xfrm>
            <a:off x="7543440" y="3630240"/>
            <a:ext cx="6400800" cy="6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469"/>
              </a:lnSpc>
              <a:tabLst>
                <a:tab algn="l" pos="0"/>
              </a:tabLst>
            </a:pPr>
            <a:r>
              <a:rPr b="0" lang="en-US" sz="1540" spc="-1" strike="noStrike">
                <a:solidFill>
                  <a:srgbClr val="d9e1ff"/>
                </a:solidFill>
                <a:latin typeface="Martel Sans"/>
                <a:ea typeface="Martel Sans"/>
              </a:rPr>
              <a:t>Implement AI enhancements based on beta feedback. Optimize performance and scalability.</a:t>
            </a:r>
            <a:endParaRPr b="0" lang="en-US" sz="1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4"/>
          <p:cNvSpPr/>
          <p:nvPr/>
        </p:nvSpPr>
        <p:spPr>
          <a:xfrm>
            <a:off x="6663600" y="5078160"/>
            <a:ext cx="685440" cy="22680"/>
          </a:xfrm>
          <a:prstGeom prst="roundRect">
            <a:avLst>
              <a:gd name="adj" fmla="val 128552"/>
            </a:avLst>
          </a:prstGeom>
          <a:solidFill>
            <a:srgbClr val="4844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68" name="Shape 15"/>
          <p:cNvSpPr/>
          <p:nvPr/>
        </p:nvSpPr>
        <p:spPr>
          <a:xfrm>
            <a:off x="6245640" y="4869360"/>
            <a:ext cx="440280" cy="440280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69" name="Text 16"/>
          <p:cNvSpPr/>
          <p:nvPr/>
        </p:nvSpPr>
        <p:spPr>
          <a:xfrm>
            <a:off x="6393960" y="4951080"/>
            <a:ext cx="143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177"/>
              </a:lnSpc>
              <a:tabLst>
                <a:tab algn="l" pos="0"/>
              </a:tabLst>
            </a:pPr>
            <a:r>
              <a:rPr b="0" lang="en-US" sz="2180" spc="-1" strike="noStrike">
                <a:solidFill>
                  <a:srgbClr val="d9e1ff"/>
                </a:solidFill>
                <a:latin typeface="Kanit"/>
                <a:ea typeface="Kanit"/>
              </a:rPr>
              <a:t>3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17"/>
          <p:cNvSpPr/>
          <p:nvPr/>
        </p:nvSpPr>
        <p:spPr>
          <a:xfrm>
            <a:off x="7543440" y="4844520"/>
            <a:ext cx="2304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68"/>
              </a:lnSpc>
              <a:tabLst>
                <a:tab algn="l" pos="0"/>
              </a:tabLst>
            </a:pPr>
            <a:r>
              <a:rPr b="0" lang="en-US" sz="1810" spc="-1" strike="noStrike">
                <a:solidFill>
                  <a:srgbClr val="d9e1ff"/>
                </a:solidFill>
                <a:latin typeface="Kanit"/>
                <a:ea typeface="Kanit"/>
              </a:rPr>
              <a:t>Q2 2025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18"/>
          <p:cNvSpPr/>
          <p:nvPr/>
        </p:nvSpPr>
        <p:spPr>
          <a:xfrm>
            <a:off x="7543440" y="5250240"/>
            <a:ext cx="6400800" cy="6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469"/>
              </a:lnSpc>
              <a:tabLst>
                <a:tab algn="l" pos="0"/>
              </a:tabLst>
            </a:pPr>
            <a:r>
              <a:rPr b="0" lang="en-US" sz="1540" spc="-1" strike="noStrike">
                <a:solidFill>
                  <a:srgbClr val="d9e1ff"/>
                </a:solidFill>
                <a:latin typeface="Martel Sans"/>
                <a:ea typeface="Martel Sans"/>
              </a:rPr>
              <a:t>Official launch and marketing push. Begin partnerships with educational institutions.</a:t>
            </a:r>
            <a:endParaRPr b="0" lang="en-US" sz="1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9"/>
          <p:cNvSpPr/>
          <p:nvPr/>
        </p:nvSpPr>
        <p:spPr>
          <a:xfrm>
            <a:off x="6663600" y="6698160"/>
            <a:ext cx="685440" cy="22680"/>
          </a:xfrm>
          <a:prstGeom prst="roundRect">
            <a:avLst>
              <a:gd name="adj" fmla="val 128552"/>
            </a:avLst>
          </a:prstGeom>
          <a:solidFill>
            <a:srgbClr val="4844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73" name="Shape 20"/>
          <p:cNvSpPr/>
          <p:nvPr/>
        </p:nvSpPr>
        <p:spPr>
          <a:xfrm>
            <a:off x="6245640" y="6489000"/>
            <a:ext cx="440280" cy="440280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74" name="Text 21"/>
          <p:cNvSpPr/>
          <p:nvPr/>
        </p:nvSpPr>
        <p:spPr>
          <a:xfrm>
            <a:off x="6390720" y="6571080"/>
            <a:ext cx="1497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177"/>
              </a:lnSpc>
              <a:tabLst>
                <a:tab algn="l" pos="0"/>
              </a:tabLst>
            </a:pPr>
            <a:r>
              <a:rPr b="0" lang="en-US" sz="2180" spc="-1" strike="noStrike">
                <a:solidFill>
                  <a:srgbClr val="d9e1ff"/>
                </a:solidFill>
                <a:latin typeface="Kanit"/>
                <a:ea typeface="Kanit"/>
              </a:rPr>
              <a:t>4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2"/>
          <p:cNvSpPr/>
          <p:nvPr/>
        </p:nvSpPr>
        <p:spPr>
          <a:xfrm>
            <a:off x="7543440" y="6464520"/>
            <a:ext cx="2304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68"/>
              </a:lnSpc>
              <a:tabLst>
                <a:tab algn="l" pos="0"/>
              </a:tabLst>
            </a:pPr>
            <a:r>
              <a:rPr b="0" lang="en-US" sz="1810" spc="-1" strike="noStrike">
                <a:solidFill>
                  <a:srgbClr val="d9e1ff"/>
                </a:solidFill>
                <a:latin typeface="Kanit"/>
                <a:ea typeface="Kanit"/>
              </a:rPr>
              <a:t>Q3 2025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23"/>
          <p:cNvSpPr/>
          <p:nvPr/>
        </p:nvSpPr>
        <p:spPr>
          <a:xfrm>
            <a:off x="7543440" y="6870240"/>
            <a:ext cx="6400800" cy="6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469"/>
              </a:lnSpc>
              <a:tabLst>
                <a:tab algn="l" pos="0"/>
              </a:tabLst>
            </a:pPr>
            <a:r>
              <a:rPr b="0" lang="en-US" sz="1540" spc="-1" strike="noStrike">
                <a:solidFill>
                  <a:srgbClr val="d9e1ff"/>
                </a:solidFill>
                <a:latin typeface="Martel Sans"/>
                <a:ea typeface="Martel Sans"/>
              </a:rPr>
              <a:t>Expand feature set with advanced analytics. Explore integration with LMS platforms.</a:t>
            </a:r>
            <a:endParaRPr b="0" lang="en-US" sz="15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7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37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80" name="Text 2"/>
          <p:cNvSpPr/>
          <p:nvPr/>
        </p:nvSpPr>
        <p:spPr>
          <a:xfrm>
            <a:off x="6150960" y="979200"/>
            <a:ext cx="478548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4399"/>
              </a:lnSpc>
              <a:tabLst>
                <a:tab algn="l" pos="0"/>
              </a:tabLst>
            </a:pPr>
            <a:r>
              <a:rPr b="0" lang="en-US" sz="3520" spc="-1" strike="noStrike">
                <a:solidFill>
                  <a:srgbClr val="ffffff"/>
                </a:solidFill>
                <a:latin typeface="Kanit"/>
                <a:ea typeface="Kanit"/>
              </a:rPr>
              <a:t>Investment Opportunity</a:t>
            </a:r>
            <a:endParaRPr b="0" lang="en-US" sz="3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"/>
          <p:cNvSpPr/>
          <p:nvPr/>
        </p:nvSpPr>
        <p:spPr>
          <a:xfrm>
            <a:off x="6150960" y="2036160"/>
            <a:ext cx="426960" cy="4269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6321600" y="2115720"/>
            <a:ext cx="8532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112"/>
              </a:lnSpc>
              <a:tabLst>
                <a:tab algn="l" pos="0"/>
              </a:tabLst>
            </a:pPr>
            <a:r>
              <a:rPr b="0" lang="en-US" sz="2110" spc="-1" strike="noStrike">
                <a:solidFill>
                  <a:srgbClr val="d9e1ff"/>
                </a:solidFill>
                <a:latin typeface="Kanit"/>
                <a:ea typeface="Kanit"/>
              </a:rPr>
              <a:t>1</a:t>
            </a:r>
            <a:endParaRPr b="0" lang="en-US" sz="2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6768000" y="2036160"/>
            <a:ext cx="223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760" spc="-1" strike="noStrike">
                <a:solidFill>
                  <a:srgbClr val="d9e1ff"/>
                </a:solidFill>
                <a:latin typeface="Kanit"/>
                <a:ea typeface="Kanit"/>
              </a:rPr>
              <a:t>Market Potential</a:t>
            </a:r>
            <a:endParaRPr b="0" lang="en-US" sz="1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6768000" y="2429280"/>
            <a:ext cx="719748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392"/>
              </a:lnSpc>
              <a:tabLst>
                <a:tab algn="l" pos="0"/>
              </a:tabLst>
            </a:pPr>
            <a:r>
              <a:rPr b="0" lang="en-US" sz="1490" spc="-1" strike="noStrike">
                <a:solidFill>
                  <a:srgbClr val="d9e1ff"/>
                </a:solidFill>
                <a:latin typeface="Martel Sans"/>
                <a:ea typeface="Martel Sans"/>
              </a:rPr>
              <a:t>The global e-learning market is projected to reach $325 billion by 2025. ClassConnect is positioned to capture a significant share.</a:t>
            </a:r>
            <a:endParaRPr b="0" lang="en-US" sz="1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7"/>
          <p:cNvSpPr/>
          <p:nvPr/>
        </p:nvSpPr>
        <p:spPr>
          <a:xfrm>
            <a:off x="6150960" y="3440520"/>
            <a:ext cx="426960" cy="4269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86" name="Text 8"/>
          <p:cNvSpPr/>
          <p:nvPr/>
        </p:nvSpPr>
        <p:spPr>
          <a:xfrm>
            <a:off x="6296400" y="3520080"/>
            <a:ext cx="1360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112"/>
              </a:lnSpc>
              <a:tabLst>
                <a:tab algn="l" pos="0"/>
              </a:tabLst>
            </a:pPr>
            <a:r>
              <a:rPr b="0" lang="en-US" sz="2110" spc="-1" strike="noStrike">
                <a:solidFill>
                  <a:srgbClr val="d9e1ff"/>
                </a:solidFill>
                <a:latin typeface="Kanit"/>
                <a:ea typeface="Kanit"/>
              </a:rPr>
              <a:t>2</a:t>
            </a:r>
            <a:endParaRPr b="0" lang="en-US" sz="2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9"/>
          <p:cNvSpPr/>
          <p:nvPr/>
        </p:nvSpPr>
        <p:spPr>
          <a:xfrm>
            <a:off x="6768000" y="3440520"/>
            <a:ext cx="2359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760" spc="-1" strike="noStrike">
                <a:solidFill>
                  <a:srgbClr val="d9e1ff"/>
                </a:solidFill>
                <a:latin typeface="Kanit"/>
                <a:ea typeface="Kanit"/>
              </a:rPr>
              <a:t>Competitive Advantage</a:t>
            </a:r>
            <a:endParaRPr b="0" lang="en-US" sz="1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10"/>
          <p:cNvSpPr/>
          <p:nvPr/>
        </p:nvSpPr>
        <p:spPr>
          <a:xfrm>
            <a:off x="6768000" y="3833640"/>
            <a:ext cx="719748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392"/>
              </a:lnSpc>
              <a:tabLst>
                <a:tab algn="l" pos="0"/>
              </a:tabLst>
            </a:pPr>
            <a:r>
              <a:rPr b="0" lang="en-US" sz="1490" spc="-1" strike="noStrike">
                <a:solidFill>
                  <a:srgbClr val="d9e1ff"/>
                </a:solidFill>
                <a:latin typeface="Martel Sans"/>
                <a:ea typeface="Martel Sans"/>
              </a:rPr>
              <a:t>Unique AI-driven features set ClassConnect apart from traditional virtual classroom solutions. Patents pending on key technologies.</a:t>
            </a:r>
            <a:endParaRPr b="0" lang="en-US" sz="1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1"/>
          <p:cNvSpPr/>
          <p:nvPr/>
        </p:nvSpPr>
        <p:spPr>
          <a:xfrm>
            <a:off x="6150960" y="4844880"/>
            <a:ext cx="426960" cy="4269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90" name="Text 12"/>
          <p:cNvSpPr/>
          <p:nvPr/>
        </p:nvSpPr>
        <p:spPr>
          <a:xfrm>
            <a:off x="6294960" y="4924440"/>
            <a:ext cx="13896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112"/>
              </a:lnSpc>
              <a:tabLst>
                <a:tab algn="l" pos="0"/>
              </a:tabLst>
            </a:pPr>
            <a:r>
              <a:rPr b="0" lang="en-US" sz="2110" spc="-1" strike="noStrike">
                <a:solidFill>
                  <a:srgbClr val="d9e1ff"/>
                </a:solidFill>
                <a:latin typeface="Kanit"/>
                <a:ea typeface="Kanit"/>
              </a:rPr>
              <a:t>3</a:t>
            </a:r>
            <a:endParaRPr b="0" lang="en-US" sz="2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13"/>
          <p:cNvSpPr/>
          <p:nvPr/>
        </p:nvSpPr>
        <p:spPr>
          <a:xfrm>
            <a:off x="6768000" y="4844880"/>
            <a:ext cx="223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760" spc="-1" strike="noStrike">
                <a:solidFill>
                  <a:srgbClr val="d9e1ff"/>
                </a:solidFill>
                <a:latin typeface="Kanit"/>
                <a:ea typeface="Kanit"/>
              </a:rPr>
              <a:t>Scalability</a:t>
            </a:r>
            <a:endParaRPr b="0" lang="en-US" sz="1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4"/>
          <p:cNvSpPr/>
          <p:nvPr/>
        </p:nvSpPr>
        <p:spPr>
          <a:xfrm>
            <a:off x="6768000" y="5238360"/>
            <a:ext cx="719748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392"/>
              </a:lnSpc>
              <a:tabLst>
                <a:tab algn="l" pos="0"/>
              </a:tabLst>
            </a:pPr>
            <a:r>
              <a:rPr b="0" lang="en-US" sz="1490" spc="-1" strike="noStrike">
                <a:solidFill>
                  <a:srgbClr val="d9e1ff"/>
                </a:solidFill>
                <a:latin typeface="Martel Sans"/>
                <a:ea typeface="Martel Sans"/>
              </a:rPr>
              <a:t>Cloud-based architecture ensures easy scaling to millions of users. Low marginal cost for each additional student.</a:t>
            </a:r>
            <a:endParaRPr b="0" lang="en-US" sz="1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15"/>
          <p:cNvSpPr/>
          <p:nvPr/>
        </p:nvSpPr>
        <p:spPr>
          <a:xfrm>
            <a:off x="6150960" y="6249600"/>
            <a:ext cx="426960" cy="42696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94" name="Text 16"/>
          <p:cNvSpPr/>
          <p:nvPr/>
        </p:nvSpPr>
        <p:spPr>
          <a:xfrm>
            <a:off x="6291720" y="6329160"/>
            <a:ext cx="1450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2112"/>
              </a:lnSpc>
              <a:tabLst>
                <a:tab algn="l" pos="0"/>
              </a:tabLst>
            </a:pPr>
            <a:r>
              <a:rPr b="0" lang="en-US" sz="2110" spc="-1" strike="noStrike">
                <a:solidFill>
                  <a:srgbClr val="d9e1ff"/>
                </a:solidFill>
                <a:latin typeface="Kanit"/>
                <a:ea typeface="Kanit"/>
              </a:rPr>
              <a:t>4</a:t>
            </a:r>
            <a:endParaRPr b="0" lang="en-US" sz="2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7"/>
          <p:cNvSpPr/>
          <p:nvPr/>
        </p:nvSpPr>
        <p:spPr>
          <a:xfrm>
            <a:off x="6768000" y="6249600"/>
            <a:ext cx="22338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760" spc="-1" strike="noStrike">
                <a:solidFill>
                  <a:srgbClr val="d9e1ff"/>
                </a:solidFill>
                <a:latin typeface="Kanit"/>
                <a:ea typeface="Kanit"/>
              </a:rPr>
              <a:t>ROI Potential</a:t>
            </a:r>
            <a:endParaRPr b="0" lang="en-US" sz="1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18"/>
          <p:cNvSpPr/>
          <p:nvPr/>
        </p:nvSpPr>
        <p:spPr>
          <a:xfrm>
            <a:off x="6768000" y="6642720"/>
            <a:ext cx="719748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392"/>
              </a:lnSpc>
              <a:tabLst>
                <a:tab algn="l" pos="0"/>
              </a:tabLst>
            </a:pPr>
            <a:r>
              <a:rPr b="0" lang="en-US" sz="1490" spc="-1" strike="noStrike">
                <a:solidFill>
                  <a:srgbClr val="d9e1ff"/>
                </a:solidFill>
                <a:latin typeface="Martel Sans"/>
                <a:ea typeface="Martel Sans"/>
              </a:rPr>
              <a:t>Conservative projections show 300% ROI within 3 years of launch. Multiple revenue streams from subscriptions and partnerships.</a:t>
            </a:r>
            <a:endParaRPr b="0" lang="en-US" sz="14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271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9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00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399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400" name="Text 2"/>
          <p:cNvSpPr/>
          <p:nvPr/>
        </p:nvSpPr>
        <p:spPr>
          <a:xfrm>
            <a:off x="864000" y="1545840"/>
            <a:ext cx="580860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717"/>
              </a:lnSpc>
              <a:tabLst>
                <a:tab algn="l" pos="0"/>
              </a:tabLst>
            </a:pPr>
            <a:r>
              <a:rPr b="0" lang="en-US" sz="4580" spc="-1" strike="noStrike">
                <a:solidFill>
                  <a:srgbClr val="ffffff"/>
                </a:solidFill>
                <a:latin typeface="Kanit"/>
                <a:ea typeface="Kanit"/>
              </a:rPr>
              <a:t>Contact Information</a:t>
            </a:r>
            <a:endParaRPr b="0" lang="en-US" sz="4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3"/>
          <p:cNvSpPr/>
          <p:nvPr/>
        </p:nvSpPr>
        <p:spPr>
          <a:xfrm>
            <a:off x="864000" y="2642040"/>
            <a:ext cx="7415640" cy="4041360"/>
          </a:xfrm>
          <a:prstGeom prst="roundRect">
            <a:avLst>
              <a:gd name="adj" fmla="val 916"/>
            </a:avLst>
          </a:prstGeom>
          <a:noFill/>
          <a:ln w="15240">
            <a:solidFill>
              <a:srgbClr val="ffffff">
                <a:alpha val="2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02" name="Shape 4"/>
          <p:cNvSpPr/>
          <p:nvPr/>
        </p:nvSpPr>
        <p:spPr>
          <a:xfrm>
            <a:off x="879120" y="2657520"/>
            <a:ext cx="7385040" cy="706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03" name="Text 5"/>
          <p:cNvSpPr/>
          <p:nvPr/>
        </p:nvSpPr>
        <p:spPr>
          <a:xfrm>
            <a:off x="1126080" y="2813040"/>
            <a:ext cx="3195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Email: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6"/>
          <p:cNvSpPr/>
          <p:nvPr/>
        </p:nvSpPr>
        <p:spPr>
          <a:xfrm>
            <a:off x="4822560" y="2813040"/>
            <a:ext cx="3195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team@classconnect.edu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7"/>
          <p:cNvSpPr/>
          <p:nvPr/>
        </p:nvSpPr>
        <p:spPr>
          <a:xfrm>
            <a:off x="879120" y="3363840"/>
            <a:ext cx="7385040" cy="7063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06" name="Text 8"/>
          <p:cNvSpPr/>
          <p:nvPr/>
        </p:nvSpPr>
        <p:spPr>
          <a:xfrm>
            <a:off x="1126080" y="3519720"/>
            <a:ext cx="3195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Phone: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9"/>
          <p:cNvSpPr/>
          <p:nvPr/>
        </p:nvSpPr>
        <p:spPr>
          <a:xfrm>
            <a:off x="4822560" y="3519720"/>
            <a:ext cx="3195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+91 1234567899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0"/>
          <p:cNvSpPr/>
          <p:nvPr/>
        </p:nvSpPr>
        <p:spPr>
          <a:xfrm>
            <a:off x="879120" y="4070520"/>
            <a:ext cx="7385040" cy="706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09" name="Text 11"/>
          <p:cNvSpPr/>
          <p:nvPr/>
        </p:nvSpPr>
        <p:spPr>
          <a:xfrm>
            <a:off x="1126080" y="4226040"/>
            <a:ext cx="3195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Website: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2"/>
          <p:cNvSpPr/>
          <p:nvPr/>
        </p:nvSpPr>
        <p:spPr>
          <a:xfrm>
            <a:off x="4822560" y="4226040"/>
            <a:ext cx="3195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www.classconnect.edu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3"/>
          <p:cNvSpPr/>
          <p:nvPr/>
        </p:nvSpPr>
        <p:spPr>
          <a:xfrm>
            <a:off x="879120" y="4776840"/>
            <a:ext cx="7385040" cy="189144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12" name="Text 14"/>
          <p:cNvSpPr/>
          <p:nvPr/>
        </p:nvSpPr>
        <p:spPr>
          <a:xfrm>
            <a:off x="1126080" y="4932720"/>
            <a:ext cx="3195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Address: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15"/>
          <p:cNvSpPr/>
          <p:nvPr/>
        </p:nvSpPr>
        <p:spPr>
          <a:xfrm>
            <a:off x="4822560" y="4932720"/>
            <a:ext cx="3195000" cy="15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110"/>
              </a:lnSpc>
              <a:tabLst>
                <a:tab algn="l" pos="0"/>
              </a:tabLst>
            </a:pPr>
            <a:r>
              <a:rPr b="0" lang="en-US" sz="1940" spc="-1" strike="noStrike">
                <a:solidFill>
                  <a:srgbClr val="d9e1ff"/>
                </a:solidFill>
                <a:latin typeface="Martel Sans"/>
                <a:ea typeface="Martel Sans"/>
              </a:rPr>
              <a:t>AIKTC, Plot No. 2&amp;3, Sector 16, New Panvel, Navi Mumbai, Maharashtra 410206</a:t>
            </a:r>
            <a:endParaRPr b="0" lang="en-US" sz="19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Calibri Light" panose="020f0302020204030204" pitchFamily="0" charset="1"/>
        <a:cs typeface="Arial" pitchFamily="0" charset="1"/>
      </a:majorFont>
      <a:minorFont>
        <a:latin typeface="Calibri" pitchFamily="0" charset="1"/>
        <a:ea typeface="Calibri" panose="020f0502020204030204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Calibri Light" panose="020f0302020204030204" pitchFamily="0" charset="1"/>
        <a:cs typeface="Arial" pitchFamily="0" charset="1"/>
      </a:majorFont>
      <a:minorFont>
        <a:latin typeface="Calibri" pitchFamily="0" charset="1"/>
        <a:ea typeface="Calibri" panose="020f0502020204030204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Calibri Light" panose="020f0302020204030204" pitchFamily="0" charset="1"/>
        <a:cs typeface="Arial" pitchFamily="0" charset="1"/>
      </a:majorFont>
      <a:minorFont>
        <a:latin typeface="Calibri" pitchFamily="0" charset="1"/>
        <a:ea typeface="Calibri" panose="020f0502020204030204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LibreOffice/24.2.5.2$Windows_X86_64 LibreOffice_project/bffef4ea93e59bebbeaf7f431bb02b1a39ee8a59</Application>
  <AppVersion>15.0000</AppVersion>
  <Paragraphs>241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2024-08-27T05:22:09Z</dcterms:created>
  <dc:creator/>
  <dc:description/>
  <dc:language>en-US</dc:language>
  <cp:lastModifiedBy/>
  <cp:lastPrinted>2024-08-27T05:22:09Z</cp:lastPrinted>
  <dcterms:modified xsi:type="dcterms:W3CDTF">2024-08-27T11:08:47Z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(4:3)</vt:lpwstr>
  </property>
  <property fmtid="{D5CDD505-2E9C-101B-9397-08002B2CF9AE}" pid="4" name="Slides">
    <vt:i4>27</vt:i4>
  </property>
</Properties>
</file>